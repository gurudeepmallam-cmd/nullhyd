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76" r:id="rId5"/>
    <p:sldId id="259" r:id="rId6"/>
    <p:sldId id="281" r:id="rId27"/>
    <p:sldId id="260" r:id="rId7"/>
    <p:sldId id="277" r:id="rId23"/>
    <p:sldId id="278" r:id="rId24"/>
    <p:sldId id="279" r:id="rId25"/>
    <p:sldId id="280" r:id="rId26"/>
    <p:sldId id="261" r:id="rId8"/>
    <p:sldId id="262" r:id="rId9"/>
    <p:sldId id="263" r:id="rId10"/>
    <p:sldId id="264" r:id="rId11"/>
    <p:sldId id="275" r:id="rId12"/>
    <p:sldId id="265" r:id="rId13"/>
    <p:sldId id="266" r:id="rId14"/>
    <p:sldId id="267" r:id="rId15"/>
    <p:sldId id="271" r:id="rId16"/>
    <p:sldId id="272" r:id="rId17"/>
    <p:sldId id="273" r:id="rId18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11.xml"/><Relationship Id="rId9" Type="http://schemas.openxmlformats.org/officeDocument/2006/relationships/slide" Target="slides/slide12.xml"/><Relationship Id="rId10" Type="http://schemas.openxmlformats.org/officeDocument/2006/relationships/slide" Target="slides/slide13.xml"/><Relationship Id="rId11" Type="http://schemas.openxmlformats.org/officeDocument/2006/relationships/slide" Target="slides/slide14.xml"/><Relationship Id="rId12" Type="http://schemas.openxmlformats.org/officeDocument/2006/relationships/slide" Target="slides/slide15.xml"/><Relationship Id="rId13" Type="http://schemas.openxmlformats.org/officeDocument/2006/relationships/slide" Target="slides/slide16.xml"/><Relationship Id="rId14" Type="http://schemas.openxmlformats.org/officeDocument/2006/relationships/slide" Target="slides/slide17.xml"/><Relationship Id="rId15" Type="http://schemas.openxmlformats.org/officeDocument/2006/relationships/slide" Target="slides/slide18.xml"/><Relationship Id="rId16" Type="http://schemas.openxmlformats.org/officeDocument/2006/relationships/slide" Target="slides/slide19.xml"/><Relationship Id="rId17" Type="http://schemas.openxmlformats.org/officeDocument/2006/relationships/slide" Target="slides/slide20.xml"/><Relationship Id="rId18" Type="http://schemas.openxmlformats.org/officeDocument/2006/relationships/slide" Target="slides/slide2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Relationship Id="rId23" Type="http://schemas.openxmlformats.org/officeDocument/2006/relationships/slide" Target="slides/slide7.xml"/><Relationship Id="rId24" Type="http://schemas.openxmlformats.org/officeDocument/2006/relationships/slide" Target="slides/slide8.xml"/><Relationship Id="rId25" Type="http://schemas.openxmlformats.org/officeDocument/2006/relationships/slide" Target="slides/slide9.xml"/><Relationship Id="rId26" Type="http://schemas.openxmlformats.org/officeDocument/2006/relationships/slide" Target="slides/slide10.xml"/><Relationship Id="rId27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4864"/>
            <a:ext cx="12188952" cy="50292"/>
          </a:xfrm>
          <a:prstGeom prst="rect">
            <a:avLst/>
          </a:prstGeom>
          <a:solidFill>
            <a:srgbClr val="39D353"/>
          </a:solidFill>
          <a:ln>
            <a:solidFill>
              <a:srgbClr val="39D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7200" b="1" dirty="0">
                <a:solidFill>
                  <a:srgbClr val="E6EDF3"/>
                </a:solidFill>
                <a:latin typeface="Segoe UI"/>
              </a:rPr>
              <a:t>MCP </a:t>
            </a:r>
          </a:p>
          <a:p>
            <a:pPr algn="l"/>
            <a:endParaRPr sz="7200" b="1" dirty="0">
              <a:solidFill>
                <a:srgbClr val="E6EDF3"/>
              </a:solidFill>
              <a:latin typeface="Segoe U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600" b="1" dirty="0">
                <a:solidFill>
                  <a:srgbClr val="39D353"/>
                </a:solidFill>
                <a:latin typeface="Segoe UI"/>
              </a:rPr>
              <a:t>Is this presentation worthy my weekend? </a:t>
            </a:r>
            <a:endParaRPr sz="2600" b="1" dirty="0">
              <a:solidFill>
                <a:srgbClr val="39D353"/>
              </a:solidFill>
              <a:latin typeface="Segoe U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57200" y="2377440"/>
            <a:ext cx="11274552" cy="36576"/>
          </a:xfrm>
          <a:prstGeom prst="rect">
            <a:avLst/>
          </a:prstGeom>
          <a:solidFill>
            <a:srgbClr val="30363D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2514600"/>
            <a:ext cx="10972800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700" b="0" dirty="0">
                <a:solidFill>
                  <a:srgbClr val="FFC000"/>
                </a:solidFill>
                <a:latin typeface="Segoe UI"/>
              </a:rPr>
              <a:t>Who is giving the presentation? : </a:t>
            </a:r>
            <a:r>
              <a:rPr sz="1700" b="0" dirty="0" err="1">
                <a:solidFill>
                  <a:srgbClr val="FFC000"/>
                </a:solidFill>
                <a:latin typeface="Segoe UI"/>
              </a:rPr>
              <a:t>Gurudeep</a:t>
            </a:r>
            <a:r>
              <a:rPr sz="1700" b="0" dirty="0">
                <a:solidFill>
                  <a:srgbClr val="FFC000"/>
                </a:solidFill>
                <a:latin typeface="Segoe UI"/>
              </a:rPr>
              <a:t> Mallam</a:t>
            </a:r>
            <a:endParaRPr lang="en-IN" sz="1700" b="0" dirty="0">
              <a:solidFill>
                <a:srgbClr val="FFC000"/>
              </a:solidFill>
              <a:latin typeface="Segoe UI"/>
            </a:endParaRPr>
          </a:p>
          <a:p>
            <a:pPr algn="l"/>
            <a:r>
              <a:rPr sz="1700" b="0" dirty="0">
                <a:solidFill>
                  <a:srgbClr val="FFC000"/>
                </a:solidFill>
                <a:latin typeface="Segoe UI"/>
              </a:rPr>
              <a:t>  </a:t>
            </a:r>
            <a:endParaRPr lang="en-IN" sz="1700" b="0" dirty="0">
              <a:solidFill>
                <a:srgbClr val="FFC000"/>
              </a:solidFill>
              <a:latin typeface="Segoe UI"/>
            </a:endParaRPr>
          </a:p>
          <a:p>
            <a:pPr algn="l"/>
            <a:endParaRPr lang="en-IN" sz="1700" dirty="0">
              <a:solidFill>
                <a:srgbClr val="FFC000"/>
              </a:solidFill>
              <a:latin typeface="Segoe UI"/>
            </a:endParaRPr>
          </a:p>
          <a:p>
            <a:pPr algn="l"/>
            <a:endParaRPr lang="en-IN" sz="1700" b="0" dirty="0">
              <a:solidFill>
                <a:srgbClr val="FFC000"/>
              </a:solidFill>
              <a:latin typeface="Segoe U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2819126"/>
            <a:ext cx="1097280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700" dirty="0">
                <a:solidFill>
                  <a:srgbClr val="FFC000"/>
                </a:solidFill>
                <a:latin typeface="Segoe UI"/>
              </a:rPr>
              <a:t>Whom is he giving to? : </a:t>
            </a:r>
            <a:r>
              <a:rPr sz="1700" dirty="0">
                <a:solidFill>
                  <a:srgbClr val="FFC000"/>
                </a:solidFill>
                <a:latin typeface="Segoe UI"/>
              </a:rPr>
              <a:t>NULL Hyderabad  ·  2026</a:t>
            </a:r>
            <a:endParaRPr lang="en-IN" sz="1700" dirty="0">
              <a:solidFill>
                <a:srgbClr val="FFC000"/>
              </a:solidFill>
              <a:latin typeface="Segoe UI"/>
            </a:endParaRPr>
          </a:p>
          <a:p>
            <a:r>
              <a:rPr lang="en-IN" sz="1700" dirty="0">
                <a:solidFill>
                  <a:srgbClr val="FFC000"/>
                </a:solidFill>
                <a:latin typeface="Segoe UI"/>
              </a:rPr>
              <a:t>What he does for living ? : Security engineering</a:t>
            </a:r>
            <a:endParaRPr sz="1700" dirty="0">
              <a:solidFill>
                <a:srgbClr val="FFC000"/>
              </a:solidFill>
              <a:latin typeface="Segoe UI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02A1A"/>
          </a:solidFill>
          <a:ln>
            <a:solidFill>
              <a:srgbClr val="102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665683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9D353"/>
                </a:solidFill>
                <a:latin typeface="Segoe UI"/>
              </a:rPr>
              <a:t>github.com/gurudeepmallam-cmd/bugtrotter  ·  pip install mcppt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4864"/>
            <a:ext cx="12188952" cy="50292"/>
          </a:xfrm>
          <a:prstGeom prst="rect">
            <a:avLst/>
          </a:prstGeom>
          <a:solidFill>
            <a:srgbClr val="39D353"/>
          </a:solidFill>
          <a:ln>
            <a:solidFill>
              <a:srgbClr val="39D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E6EDF3"/>
                </a:solidFill>
                <a:latin typeface="Segoe UI"/>
              </a:rPr>
              <a:t>About Me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1274552" cy="36576"/>
          </a:xfrm>
          <a:prstGeom prst="rect">
            <a:avLst/>
          </a:prstGeom>
          <a:solidFill>
            <a:srgbClr val="30363D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5303520" cy="5394960"/>
          </a:xfrm>
          <a:prstGeom prst="rect">
            <a:avLst/>
          </a:prstGeom>
          <a:solidFill>
            <a:srgbClr val="161B22"/>
          </a:solidFill>
          <a:ln w="25400">
            <a:solidFill>
              <a:srgbClr val="39D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1207008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dirty="0" err="1">
                <a:solidFill>
                  <a:srgbClr val="39D353"/>
                </a:solidFill>
                <a:latin typeface="Segoe UI"/>
              </a:rPr>
              <a:t>Gurudeep</a:t>
            </a:r>
            <a:r>
              <a:rPr sz="2200" b="1" dirty="0">
                <a:solidFill>
                  <a:srgbClr val="39D353"/>
                </a:solidFill>
                <a:latin typeface="Segoe UI"/>
              </a:rPr>
              <a:t> Mallam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737360"/>
            <a:ext cx="50292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dirty="0">
                <a:solidFill>
                  <a:srgbClr val="8B949E"/>
                </a:solidFill>
                <a:latin typeface="Segoe UI"/>
              </a:rPr>
              <a:t>Security </a:t>
            </a:r>
            <a:r>
              <a:rPr lang="en-IN" sz="1300" b="0" dirty="0">
                <a:solidFill>
                  <a:srgbClr val="8B949E"/>
                </a:solidFill>
                <a:latin typeface="Segoe UI"/>
              </a:rPr>
              <a:t>enthusiast</a:t>
            </a:r>
            <a:endParaRPr sz="1300" b="0" dirty="0">
              <a:solidFill>
                <a:srgbClr val="8B949E"/>
              </a:solidFill>
              <a:latin typeface="Segoe UI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48640" y="2148840"/>
            <a:ext cx="5120640" cy="27432"/>
          </a:xfrm>
          <a:prstGeom prst="rect">
            <a:avLst/>
          </a:prstGeom>
          <a:solidFill>
            <a:srgbClr val="39D353"/>
          </a:solidFill>
          <a:ln>
            <a:solidFill>
              <a:srgbClr val="39D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2286000"/>
            <a:ext cx="16459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200" b="1" dirty="0">
                <a:solidFill>
                  <a:srgbClr val="8B949E"/>
                </a:solidFill>
                <a:latin typeface="Segoe UI"/>
              </a:rPr>
              <a:t>Experience?</a:t>
            </a:r>
            <a:endParaRPr sz="1200" b="1" dirty="0">
              <a:solidFill>
                <a:srgbClr val="8B949E"/>
              </a:solidFill>
              <a:latin typeface="Segoe U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331720" y="2286000"/>
            <a:ext cx="329184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300" b="0" dirty="0">
                <a:solidFill>
                  <a:srgbClr val="E6EDF3"/>
                </a:solidFill>
                <a:latin typeface="Segoe UI"/>
              </a:rPr>
              <a:t>4 years offensive security</a:t>
            </a:r>
            <a:endParaRPr sz="1300" b="0" dirty="0">
              <a:solidFill>
                <a:srgbClr val="E6EDF3"/>
              </a:solidFill>
              <a:latin typeface="Segoe U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0080" y="2816352"/>
            <a:ext cx="16459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200" b="1" dirty="0">
                <a:solidFill>
                  <a:srgbClr val="8B949E"/>
                </a:solidFill>
                <a:latin typeface="Segoe UI"/>
              </a:rPr>
              <a:t>Education</a:t>
            </a:r>
            <a:endParaRPr sz="1200" b="1" dirty="0">
              <a:solidFill>
                <a:srgbClr val="8B949E"/>
              </a:solidFill>
              <a:latin typeface="Segoe U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331720" y="2816352"/>
            <a:ext cx="3291840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300" b="0" dirty="0">
                <a:solidFill>
                  <a:srgbClr val="E6EDF3"/>
                </a:solidFill>
                <a:latin typeface="Segoe UI"/>
              </a:rPr>
              <a:t>M tech from Bits Pilani * (specialization in security)</a:t>
            </a:r>
          </a:p>
          <a:p>
            <a:pPr algn="l"/>
            <a:endParaRPr sz="1300" b="0" dirty="0">
              <a:solidFill>
                <a:srgbClr val="E6EDF3"/>
              </a:solidFill>
              <a:latin typeface="Segoe U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85800" y="3547872"/>
            <a:ext cx="16459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200" b="1" dirty="0">
                <a:solidFill>
                  <a:srgbClr val="8B949E"/>
                </a:solidFill>
                <a:latin typeface="Segoe UI"/>
              </a:rPr>
              <a:t>Working at?</a:t>
            </a:r>
            <a:endParaRPr sz="1200" b="1" dirty="0">
              <a:solidFill>
                <a:srgbClr val="8B949E"/>
              </a:solidFill>
              <a:latin typeface="Segoe U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286000" y="3575304"/>
            <a:ext cx="329184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300" b="0" dirty="0">
                <a:solidFill>
                  <a:srgbClr val="E6EDF3"/>
                </a:solidFill>
                <a:latin typeface="Segoe UI"/>
              </a:rPr>
              <a:t>Deloitte USI</a:t>
            </a:r>
            <a:endParaRPr sz="1300" b="0" dirty="0">
              <a:solidFill>
                <a:srgbClr val="E6EDF3"/>
              </a:solidFill>
              <a:latin typeface="Segoe UI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67386" y="4306824"/>
            <a:ext cx="16459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200" b="1" dirty="0">
                <a:solidFill>
                  <a:srgbClr val="8B949E"/>
                </a:solidFill>
                <a:latin typeface="Segoe UI"/>
              </a:rPr>
              <a:t>Hobbies?</a:t>
            </a:r>
            <a:endParaRPr sz="1200" b="1" dirty="0">
              <a:solidFill>
                <a:srgbClr val="8B949E"/>
              </a:solidFill>
              <a:latin typeface="Segoe U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286000" y="4279294"/>
            <a:ext cx="329184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300" b="0" dirty="0">
                <a:solidFill>
                  <a:srgbClr val="E6EDF3"/>
                </a:solidFill>
                <a:latin typeface="Segoe UI"/>
              </a:rPr>
              <a:t>Big time movie buff and tech enthusiast</a:t>
            </a:r>
            <a:endParaRPr sz="1300" b="0" dirty="0">
              <a:solidFill>
                <a:srgbClr val="E6EDF3"/>
              </a:solidFill>
              <a:latin typeface="Segoe UI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6035040" y="1097280"/>
            <a:ext cx="5669280" cy="5394960"/>
          </a:xfrm>
          <a:prstGeom prst="rect">
            <a:avLst/>
          </a:prstGeom>
          <a:solidFill>
            <a:srgbClr val="161B22"/>
          </a:solidFill>
          <a:ln w="254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199632" y="1207008"/>
            <a:ext cx="53949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dirty="0">
                <a:solidFill>
                  <a:srgbClr val="58A6FF"/>
                </a:solidFill>
                <a:latin typeface="Segoe UI"/>
              </a:rPr>
              <a:t>Find Me Online</a:t>
            </a:r>
            <a:r>
              <a:rPr lang="en-IN" sz="1800" b="1" dirty="0">
                <a:solidFill>
                  <a:srgbClr val="58A6FF"/>
                </a:solidFill>
                <a:latin typeface="Segoe UI"/>
              </a:rPr>
              <a:t>  </a:t>
            </a:r>
            <a:endParaRPr sz="1800" b="1" dirty="0">
              <a:solidFill>
                <a:srgbClr val="58A6FF"/>
              </a:solidFill>
              <a:latin typeface="Segoe UI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6126480" y="1664208"/>
            <a:ext cx="5486400" cy="27432"/>
          </a:xfrm>
          <a:prstGeom prst="rect">
            <a:avLst/>
          </a:prstGeom>
          <a:solidFill>
            <a:srgbClr val="58A6FF"/>
          </a:solidFill>
          <a:ln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126480" y="1828800"/>
            <a:ext cx="5486400" cy="685800"/>
          </a:xfrm>
          <a:prstGeom prst="rect">
            <a:avLst/>
          </a:prstGeom>
          <a:solidFill>
            <a:srgbClr val="0A0E16"/>
          </a:solidFill>
          <a:ln w="12700">
            <a:solidFill>
              <a:srgbClr val="39D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263640" y="192024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9D353"/>
                </a:solidFill>
                <a:latin typeface="Segoe UI"/>
              </a:rPr>
              <a:t>GitHub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0" y="1947672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6EDF3"/>
                </a:solidFill>
                <a:latin typeface="Consolas"/>
              </a:rPr>
              <a:t>github.com/gurudeepmallam-cmd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26480" y="2606040"/>
            <a:ext cx="5486400" cy="685800"/>
          </a:xfrm>
          <a:prstGeom prst="rect">
            <a:avLst/>
          </a:prstGeom>
          <a:solidFill>
            <a:srgbClr val="0A0E16"/>
          </a:solidFill>
          <a:ln w="12700">
            <a:solidFill>
              <a:srgbClr val="FF7B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263640" y="269748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7B72"/>
                </a:solidFill>
                <a:latin typeface="Segoe UI"/>
              </a:rPr>
              <a:t>Instagram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0" y="2724912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6EDF3"/>
                </a:solidFill>
                <a:latin typeface="Consolas"/>
              </a:rPr>
              <a:t>instagram.com/gurudeep_ane_nenu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26480" y="3383280"/>
            <a:ext cx="5486400" cy="685800"/>
          </a:xfrm>
          <a:prstGeom prst="rect">
            <a:avLst/>
          </a:prstGeom>
          <a:solidFill>
            <a:srgbClr val="0A0E16"/>
          </a:solidFill>
          <a:ln w="12700">
            <a:solidFill>
              <a:srgbClr val="8B94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263640" y="347472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B949E"/>
                </a:solidFill>
                <a:latin typeface="Segoe UI"/>
              </a:rPr>
              <a:t>Email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0" y="3502152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6EDF3"/>
                </a:solidFill>
                <a:latin typeface="Consolas"/>
              </a:rPr>
              <a:t>gurudeep.mallam@gmail.com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26480" y="4160520"/>
            <a:ext cx="5486400" cy="685800"/>
          </a:xfrm>
          <a:prstGeom prst="rect">
            <a:avLst/>
          </a:prstGeom>
          <a:solidFill>
            <a:srgbClr val="0A0E16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263640" y="4251959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8A6FF"/>
                </a:solidFill>
                <a:latin typeface="Segoe UI"/>
              </a:rPr>
              <a:t>LinkedIn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0" y="4279392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dirty="0">
                <a:solidFill>
                  <a:srgbClr val="E6EDF3"/>
                </a:solidFill>
                <a:latin typeface="Consolas"/>
              </a:rPr>
              <a:t>linkedin.com/in/</a:t>
            </a:r>
            <a:r>
              <a:rPr sz="1200" b="0" dirty="0" err="1">
                <a:solidFill>
                  <a:srgbClr val="E6EDF3"/>
                </a:solidFill>
                <a:latin typeface="Consolas"/>
              </a:rPr>
              <a:t>gurudeep</a:t>
            </a:r>
            <a:r>
              <a:rPr sz="1200" b="0" dirty="0">
                <a:solidFill>
                  <a:srgbClr val="E6EDF3"/>
                </a:solidFill>
                <a:latin typeface="Consolas"/>
              </a:rPr>
              <a:t>-mallam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26480" y="4937759"/>
            <a:ext cx="5486400" cy="685800"/>
          </a:xfrm>
          <a:prstGeom prst="rect">
            <a:avLst/>
          </a:prstGeom>
          <a:solidFill>
            <a:srgbClr val="0A0E16"/>
          </a:solidFill>
          <a:ln w="12700">
            <a:solidFill>
              <a:srgbClr val="E3B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263640" y="5029199"/>
            <a:ext cx="146304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300" b="1" dirty="0">
                <a:solidFill>
                  <a:srgbClr val="E3B341"/>
                </a:solidFill>
                <a:latin typeface="Segoe UI"/>
              </a:rPr>
              <a:t>Page</a:t>
            </a:r>
            <a:endParaRPr sz="1300" b="1" dirty="0">
              <a:solidFill>
                <a:srgbClr val="E3B341"/>
              </a:solidFill>
              <a:latin typeface="Segoe UI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7772400" y="5056631"/>
            <a:ext cx="374903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>
                <a:solidFill>
                  <a:srgbClr val="E6EDF3"/>
                </a:solidFill>
                <a:latin typeface="Consolas"/>
              </a:rPr>
              <a:t>https://gurudeepmallam-cmd.github.io/</a:t>
            </a:r>
            <a:endParaRPr sz="1200" b="0" dirty="0">
              <a:solidFill>
                <a:srgbClr val="E6EDF3"/>
              </a:solidFill>
              <a:latin typeface="Consolas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457200" y="6583680"/>
            <a:ext cx="1127455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dirty="0">
                <a:solidFill>
                  <a:srgbClr val="39D353"/>
                </a:solidFill>
                <a:latin typeface="Segoe UI"/>
              </a:rPr>
              <a:t>⚡</a:t>
            </a:r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0" y="4820063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4864"/>
            <a:ext cx="12188952" cy="50292"/>
          </a:xfrm>
          <a:prstGeom prst="rect">
            <a:avLst/>
          </a:prstGeom>
          <a:solidFill>
            <a:srgbClr val="58A6FF"/>
          </a:solidFill>
          <a:ln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E6EDF3"/>
                </a:solidFill>
                <a:latin typeface="Segoe UI"/>
              </a:rPr>
              <a:t>What We'll Cover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53312"/>
            <a:ext cx="11274552" cy="36576"/>
          </a:xfrm>
          <a:prstGeom prst="rect">
            <a:avLst/>
          </a:prstGeom>
          <a:solidFill>
            <a:srgbClr val="58A6FF"/>
          </a:solidFill>
          <a:ln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58A6FF"/>
                </a:solidFill>
                <a:latin typeface="Segoe UI"/>
              </a:rPr>
              <a:t>01  What is MCP?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03704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58A6FF"/>
                </a:solidFill>
                <a:latin typeface="Segoe UI"/>
              </a:rPr>
              <a:t>02  How MCP works —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61488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58A6FF"/>
                </a:solidFill>
                <a:latin typeface="Segoe UI"/>
              </a:rPr>
              <a:t>03  MCP in the Wild — who uses 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319272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39D353"/>
                </a:solidFill>
                <a:latin typeface="Segoe UI"/>
              </a:rPr>
              <a:t>04  Introducing Bugtrotter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877056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39D353"/>
                </a:solidFill>
                <a:latin typeface="Segoe UI"/>
              </a:rPr>
              <a:t>05  Bugtrotter 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434840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39D353"/>
                </a:solidFill>
                <a:latin typeface="Segoe UI"/>
              </a:rPr>
              <a:t>06  Tool Capabilities Deep Dive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050438"/>
            <a:ext cx="10515600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dirty="0">
                <a:solidFill>
                  <a:srgbClr val="39D353"/>
                </a:solidFill>
                <a:latin typeface="Segoe UI"/>
              </a:rPr>
              <a:t>0</a:t>
            </a:r>
            <a:r>
              <a:rPr lang="en-IN" sz="1900" b="0" dirty="0">
                <a:solidFill>
                  <a:srgbClr val="39D353"/>
                </a:solidFill>
                <a:latin typeface="Segoe UI"/>
              </a:rPr>
              <a:t>7</a:t>
            </a:r>
            <a:r>
              <a:rPr sz="1900" b="0" dirty="0">
                <a:solidFill>
                  <a:srgbClr val="39D353"/>
                </a:solidFill>
                <a:latin typeface="Segoe UI"/>
              </a:rPr>
              <a:t>  LIVE DEMO — </a:t>
            </a:r>
            <a:r>
              <a:rPr sz="1900" b="0" dirty="0" err="1">
                <a:solidFill>
                  <a:srgbClr val="39D353"/>
                </a:solidFill>
                <a:latin typeface="Segoe UI"/>
              </a:rPr>
              <a:t>Bugtrotter</a:t>
            </a:r>
            <a:r>
              <a:rPr sz="1900" b="0" dirty="0">
                <a:solidFill>
                  <a:srgbClr val="39D353"/>
                </a:solidFill>
                <a:latin typeface="Segoe UI"/>
              </a:rPr>
              <a:t> × Juice Shop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54864"/>
            <a:ext cx="12188952" cy="50292"/>
          </a:xfrm>
          <a:prstGeom prst="rect">
            <a:avLst/>
          </a:prstGeom>
          <a:solidFill>
            <a:srgbClr val="58A6FF"/>
          </a:solidFill>
          <a:ln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457200" y="182880"/>
            <a:ext cx="1124712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E6EDF3"/>
                </a:solidFill>
                <a:latin typeface="Segoe UI"/>
              </a:rPr>
              <a:t>MCP, in One Picture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457200" y="91440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8B949E"/>
                </a:solidFill>
                <a:latin typeface="Segoe UI"/>
              </a:rPr>
              <a:t>It's USB-C. For AI. That's genuinely the whole idea.</a:t>
            </a:r>
          </a:p>
        </p:txBody>
      </p:sp>
      <p:sp>
        <p:nvSpPr>
          <p:cNvPr id="5" name="Divider"/>
          <p:cNvSpPr/>
          <p:nvPr/>
        </p:nvSpPr>
        <p:spPr>
          <a:xfrm>
            <a:off x="457200" y="1353312"/>
            <a:ext cx="11274552" cy="36576"/>
          </a:xfrm>
          <a:prstGeom prst="rect">
            <a:avLst/>
          </a:prstGeom>
          <a:solidFill>
            <a:srgbClr val="58A6FF"/>
          </a:solidFill>
          <a:ln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CardBefore"/>
          <p:cNvSpPr/>
          <p:nvPr/>
        </p:nvSpPr>
        <p:spPr>
          <a:xfrm>
            <a:off x="457200" y="1554480"/>
            <a:ext cx="5400000" cy="3520440"/>
          </a:xfrm>
          <a:prstGeom prst="rect">
            <a:avLst/>
          </a:prstGeom>
          <a:solidFill>
            <a:srgbClr val="161B22"/>
          </a:solidFill>
          <a:ln w="2540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BeforeLabel"/>
          <p:cNvSpPr txBox="1"/>
          <p:nvPr/>
        </p:nvSpPr>
        <p:spPr>
          <a:xfrm>
            <a:off x="640080" y="1691640"/>
            <a:ext cx="5029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85149"/>
                </a:solidFill>
                <a:latin typeface="Segoe UI"/>
              </a:rPr>
              <a:t>Before — every cable different</a:t>
            </a:r>
          </a:p>
        </p:txBody>
      </p:sp>
      <p:sp>
        <p:nvSpPr>
          <p:cNvPr id="8" name="BeforeBody"/>
          <p:cNvSpPr txBox="1"/>
          <p:nvPr/>
        </p:nvSpPr>
        <p:spPr>
          <a:xfrm>
            <a:off x="640080" y="2240280"/>
            <a:ext cx="502920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6EDF3"/>
                </a:solidFill>
                <a:latin typeface="Segoe UI"/>
              </a:rPr>
              <a:t>Old phones: micro-USB, Lightning, mini-USB — a different cable for every device.
Old AI apps had the same problem: a different custom connector for every tool, API, or database. Claude talking to Slack ≠ Claude talking to Postgres. Every pair = new glue code.
N tools × M apps = N×M custom integrations to build and maintain.</a:t>
            </a:r>
          </a:p>
        </p:txBody>
      </p:sp>
      <p:sp>
        <p:nvSpPr>
          <p:cNvPr id="9" name="CardAfter"/>
          <p:cNvSpPr/>
          <p:nvPr/>
        </p:nvSpPr>
        <p:spPr>
          <a:xfrm>
            <a:off x="6331584" y="1554480"/>
            <a:ext cx="5400000" cy="3520440"/>
          </a:xfrm>
          <a:prstGeom prst="rect">
            <a:avLst/>
          </a:prstGeom>
          <a:solidFill>
            <a:srgbClr val="161B22"/>
          </a:solidFill>
          <a:ln w="25400">
            <a:solidFill>
              <a:srgbClr val="39D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AfterLabel"/>
          <p:cNvSpPr txBox="1"/>
          <p:nvPr/>
        </p:nvSpPr>
        <p:spPr>
          <a:xfrm>
            <a:off x="6514464" y="1691640"/>
            <a:ext cx="5029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9D353"/>
                </a:solidFill>
                <a:latin typeface="Segoe UI"/>
              </a:rPr>
              <a:t>After — one port, every device</a:t>
            </a:r>
          </a:p>
        </p:txBody>
      </p:sp>
      <p:sp>
        <p:nvSpPr>
          <p:cNvPr id="11" name="AfterBody"/>
          <p:cNvSpPr txBox="1"/>
          <p:nvPr/>
        </p:nvSpPr>
        <p:spPr>
          <a:xfrm>
            <a:off x="6514464" y="2240280"/>
            <a:ext cx="502920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6EDF3"/>
                </a:solidFill>
                <a:latin typeface="Segoe UI"/>
              </a:rPr>
              <a:t>USB-C fixed hardware: one port, any laptop, any charger, any monitor — manufacturer doesn't matter.
MCP does this for AI: one protocol. Claude, Cursor, VS Code — any of them — can talk to any MCP server the same way.
N tools + M apps = N+M components. Build once, plug in everywhere.</a:t>
            </a:r>
          </a:p>
        </p:txBody>
      </p:sp>
      <p:sp>
        <p:nvSpPr>
          <p:cNvPr id="12" name="PunchlineBox"/>
          <p:cNvSpPr/>
          <p:nvPr/>
        </p:nvSpPr>
        <p:spPr>
          <a:xfrm>
            <a:off x="457200" y="5258816"/>
            <a:ext cx="11274552" cy="822960"/>
          </a:xfrm>
          <a:prstGeom prst="rect">
            <a:avLst/>
          </a:prstGeom>
          <a:solidFill>
            <a:srgbClr val="1A1F0A"/>
          </a:solidFill>
          <a:ln w="12700">
            <a:solidFill>
              <a:srgbClr val="D29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PunchlineText"/>
          <p:cNvSpPr txBox="1"/>
          <p:nvPr/>
        </p:nvSpPr>
        <p:spPr>
          <a:xfrm>
            <a:off x="640080" y="5380000"/>
            <a:ext cx="10908792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D29922"/>
                </a:solidFill>
                <a:latin typeface="Segoe UI"/>
              </a:rPr>
              <a:t>But here's the catch — </a:t>
            </a:r>
            <a:r>
              <a:rPr sz="1500" b="0">
                <a:solidFill>
                  <a:srgbClr val="E6EDF3"/>
                </a:solidFill>
                <a:latin typeface="Segoe UI"/>
              </a:rPr>
              <a:t>a USB-C port doesn't care what you plug into it. Neither does an MCP server, by default. That's the entire security conversation we're about to have.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4864"/>
            <a:ext cx="12188952" cy="50292"/>
          </a:xfrm>
          <a:prstGeom prst="rect">
            <a:avLst/>
          </a:prstGeom>
          <a:solidFill>
            <a:srgbClr val="58A6FF"/>
          </a:solidFill>
          <a:ln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E6EDF3"/>
                </a:solidFill>
                <a:latin typeface="Segoe UI"/>
              </a:rPr>
              <a:t>What is MCP?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8B949E"/>
                </a:solidFill>
                <a:latin typeface="Segoe UI"/>
              </a:rPr>
              <a:t>Model Context Protocol — Anthropic's open standard (Nov 2024)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53312"/>
            <a:ext cx="11274552" cy="36576"/>
          </a:xfrm>
          <a:prstGeom prst="rect">
            <a:avLst/>
          </a:prstGeom>
          <a:solidFill>
            <a:srgbClr val="58A6FF"/>
          </a:solidFill>
          <a:ln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8B949E"/>
                </a:solidFill>
                <a:latin typeface="Segoe UI"/>
              </a:rPr>
              <a:t>The Problem MCP Solves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6EDF3"/>
                </a:solidFill>
                <a:latin typeface="Segoe UI"/>
              </a:rPr>
              <a:t>Every AI app was building custom glue code to connect to tools, APIs, and data sources.
No standard. No reuse. Fragmented, hard to audit, vendor-locked.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651760"/>
            <a:ext cx="11274552" cy="27432"/>
          </a:xfrm>
          <a:prstGeom prst="rect">
            <a:avLst/>
          </a:prstGeom>
          <a:solidFill>
            <a:srgbClr val="30363D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27432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58A6FF"/>
                </a:solidFill>
                <a:latin typeface="Segoe UI"/>
              </a:rPr>
              <a:t>What MCP Does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246120"/>
            <a:ext cx="3566160" cy="2286000"/>
          </a:xfrm>
          <a:prstGeom prst="rect">
            <a:avLst/>
          </a:prstGeom>
          <a:solidFill>
            <a:srgbClr val="161B22"/>
          </a:solidFill>
          <a:ln w="254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33375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58A6FF"/>
                </a:solidFill>
                <a:latin typeface="Segoe UI"/>
              </a:rPr>
              <a:t>One Protocol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767328"/>
            <a:ext cx="3383280" cy="27432"/>
          </a:xfrm>
          <a:prstGeom prst="rect">
            <a:avLst/>
          </a:prstGeom>
          <a:solidFill>
            <a:srgbClr val="58A6FF"/>
          </a:solidFill>
          <a:ln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4360" y="3858768"/>
            <a:ext cx="32918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E6EDF3"/>
                </a:solidFill>
                <a:latin typeface="Segoe UI"/>
              </a:rPr>
              <a:t>Any AI model connects to any tool using the same standard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43400" y="3246120"/>
            <a:ext cx="3566160" cy="2286000"/>
          </a:xfrm>
          <a:prstGeom prst="rect">
            <a:avLst/>
          </a:prstGeom>
          <a:solidFill>
            <a:srgbClr val="161B22"/>
          </a:solidFill>
          <a:ln w="25400">
            <a:solidFill>
              <a:srgbClr val="39D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80560" y="33375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39D353"/>
                </a:solidFill>
                <a:latin typeface="Segoe UI"/>
              </a:rPr>
              <a:t>Pluggable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34840" y="3767328"/>
            <a:ext cx="3383280" cy="27432"/>
          </a:xfrm>
          <a:prstGeom prst="rect">
            <a:avLst/>
          </a:prstGeom>
          <a:solidFill>
            <a:srgbClr val="39D353"/>
          </a:solidFill>
          <a:ln>
            <a:solidFill>
              <a:srgbClr val="39D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480560" y="3858768"/>
            <a:ext cx="32918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E6EDF3"/>
                </a:solidFill>
                <a:latin typeface="Segoe UI"/>
              </a:rPr>
              <a:t>File systems, databases, REST APIs, SaaS — all via MCP servers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0" y="3246120"/>
            <a:ext cx="3566160" cy="2286000"/>
          </a:xfrm>
          <a:prstGeom prst="rect">
            <a:avLst/>
          </a:prstGeom>
          <a:solidFill>
            <a:srgbClr val="161B22"/>
          </a:solidFill>
          <a:ln w="25400">
            <a:solidFill>
              <a:srgbClr val="E3B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66760" y="33375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E3B341"/>
                </a:solidFill>
                <a:latin typeface="Segoe UI"/>
              </a:rPr>
              <a:t>Inspectable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321040" y="3767328"/>
            <a:ext cx="3383280" cy="27432"/>
          </a:xfrm>
          <a:prstGeom prst="rect">
            <a:avLst/>
          </a:prstGeom>
          <a:solidFill>
            <a:srgbClr val="E3B341"/>
          </a:solidFill>
          <a:ln>
            <a:solidFill>
              <a:srgbClr val="E3B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366760" y="3858768"/>
            <a:ext cx="32918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E6EDF3"/>
                </a:solidFill>
                <a:latin typeface="Segoe UI"/>
              </a:rPr>
              <a:t>Standardised JSON-RPC — every call is visible and auditable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760720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8B949E"/>
                </a:solidFill>
                <a:latin typeface="Segoe UI"/>
              </a:rPr>
              <a:t>Adopted by: VS Code · Cursor · Claude Desktop · GitHub Copilot · Windsurf · JetBrains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4864"/>
            <a:ext cx="12188952" cy="50292"/>
          </a:xfrm>
          <a:prstGeom prst="rect">
            <a:avLst/>
          </a:prstGeom>
          <a:solidFill>
            <a:srgbClr val="58A6FF"/>
          </a:solidFill>
          <a:ln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E6EDF3"/>
                </a:solidFill>
                <a:latin typeface="Segoe UI"/>
              </a:rPr>
              <a:t>MCP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8B949E"/>
                </a:solidFill>
                <a:latin typeface="Segoe UI"/>
              </a:rPr>
              <a:t>How the protocol actually works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53312"/>
            <a:ext cx="11274552" cy="36576"/>
          </a:xfrm>
          <a:prstGeom prst="rect">
            <a:avLst/>
          </a:prstGeom>
          <a:solidFill>
            <a:srgbClr val="58A6FF"/>
          </a:solidFill>
          <a:ln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920240"/>
            <a:ext cx="2651760" cy="3291840"/>
          </a:xfrm>
          <a:prstGeom prst="rect">
            <a:avLst/>
          </a:prstGeom>
          <a:solidFill>
            <a:srgbClr val="161B22"/>
          </a:solidFill>
          <a:ln w="254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201168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58A6FF"/>
                </a:solidFill>
                <a:latin typeface="Segoe UI"/>
              </a:rPr>
              <a:t>HOST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496312"/>
            <a:ext cx="2468880" cy="27432"/>
          </a:xfrm>
          <a:prstGeom prst="rect">
            <a:avLst/>
          </a:prstGeom>
          <a:solidFill>
            <a:srgbClr val="58A6FF"/>
          </a:solidFill>
          <a:ln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2606040"/>
            <a:ext cx="24688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6EDF3"/>
                </a:solidFill>
                <a:latin typeface="Segoe UI"/>
              </a:rPr>
              <a:t>The AI app (Claude Desktop, VS Code, Cursor)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46120" y="1920240"/>
            <a:ext cx="2651760" cy="3291840"/>
          </a:xfrm>
          <a:prstGeom prst="rect">
            <a:avLst/>
          </a:prstGeom>
          <a:solidFill>
            <a:srgbClr val="161B22"/>
          </a:solidFill>
          <a:ln w="25400">
            <a:solidFill>
              <a:srgbClr val="E6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337560" y="201168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E6EDF3"/>
                </a:solidFill>
                <a:latin typeface="Segoe UI"/>
              </a:rPr>
              <a:t>MCP CLIENT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37560" y="2496312"/>
            <a:ext cx="2468880" cy="27432"/>
          </a:xfrm>
          <a:prstGeom prst="rect">
            <a:avLst/>
          </a:prstGeom>
          <a:solidFill>
            <a:srgbClr val="E6EDF3"/>
          </a:solidFill>
          <a:ln>
            <a:solidFill>
              <a:srgbClr val="E6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337560" y="2606040"/>
            <a:ext cx="24688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6EDF3"/>
                </a:solidFill>
                <a:latin typeface="Segoe UI"/>
              </a:rPr>
              <a:t>Protocol layer inside the host. Manages connections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1920240"/>
            <a:ext cx="2651760" cy="3291840"/>
          </a:xfrm>
          <a:prstGeom prst="rect">
            <a:avLst/>
          </a:prstGeom>
          <a:solidFill>
            <a:srgbClr val="161B22"/>
          </a:solidFill>
          <a:ln w="25400">
            <a:solidFill>
              <a:srgbClr val="39D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17920" y="201168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39D353"/>
                </a:solidFill>
                <a:latin typeface="Segoe UI"/>
              </a:rPr>
              <a:t>MCP SERVER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2496312"/>
            <a:ext cx="2468880" cy="27432"/>
          </a:xfrm>
          <a:prstGeom prst="rect">
            <a:avLst/>
          </a:prstGeom>
          <a:solidFill>
            <a:srgbClr val="39D353"/>
          </a:solidFill>
          <a:ln>
            <a:solidFill>
              <a:srgbClr val="39D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17920" y="2606040"/>
            <a:ext cx="24688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6EDF3"/>
                </a:solidFill>
                <a:latin typeface="Segoe UI"/>
              </a:rPr>
              <a:t>Exposes capabilities to the AI:
• Tools
• Resources
• Prompts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06840" y="1920240"/>
            <a:ext cx="2651760" cy="3291840"/>
          </a:xfrm>
          <a:prstGeom prst="rect">
            <a:avLst/>
          </a:prstGeom>
          <a:solidFill>
            <a:srgbClr val="161B22"/>
          </a:solidFill>
          <a:ln w="25400">
            <a:solidFill>
              <a:srgbClr val="E3B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098280" y="201168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E3B341"/>
                </a:solidFill>
                <a:latin typeface="Segoe UI"/>
              </a:rPr>
              <a:t>BACKEND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98280" y="2496312"/>
            <a:ext cx="2468880" cy="27432"/>
          </a:xfrm>
          <a:prstGeom prst="rect">
            <a:avLst/>
          </a:prstGeom>
          <a:solidFill>
            <a:srgbClr val="E3B341"/>
          </a:solidFill>
          <a:ln>
            <a:solidFill>
              <a:srgbClr val="E3B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098280" y="2606040"/>
            <a:ext cx="24688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6EDF3"/>
                </a:solidFill>
                <a:latin typeface="Segoe UI"/>
              </a:rPr>
              <a:t>The actual system: DB · API · FS · SaaS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17520" y="3337560"/>
            <a:ext cx="411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8B949E"/>
                </a:solidFill>
                <a:latin typeface="Segoe UI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97880" y="3337560"/>
            <a:ext cx="411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8B949E"/>
                </a:solidFill>
                <a:latin typeface="Segoe UI"/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0" y="3337560"/>
            <a:ext cx="411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8B949E"/>
                </a:solidFill>
                <a:latin typeface="Segoe UI"/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440680"/>
            <a:ext cx="11274552" cy="1188720"/>
          </a:xfrm>
          <a:prstGeom prst="rect">
            <a:avLst/>
          </a:prstGeom>
          <a:solidFill>
            <a:srgbClr val="0A121A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0080" y="553212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58A6FF"/>
                </a:solidFill>
                <a:latin typeface="Segoe UI"/>
              </a:rPr>
              <a:t>Message Types: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17520" y="553212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9D353"/>
                </a:solidFill>
                <a:latin typeface="Consolas"/>
              </a:rPr>
              <a:t>tools/list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17520" y="589788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B949E"/>
                </a:solidFill>
                <a:latin typeface="Segoe UI"/>
              </a:rPr>
              <a:t>Discover what tools the server has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553212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9D353"/>
                </a:solidFill>
                <a:latin typeface="Consolas"/>
              </a:rPr>
              <a:t>tools/call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589788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B949E"/>
                </a:solidFill>
                <a:latin typeface="Segoe UI"/>
              </a:rPr>
              <a:t>Execute a tool with arguments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09760" y="553212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9D353"/>
                </a:solidFill>
                <a:latin typeface="Consolas"/>
              </a:rPr>
              <a:t>resources/read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09760" y="589788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B949E"/>
                </a:solidFill>
                <a:latin typeface="Segoe UI"/>
              </a:rPr>
              <a:t>Read data (files, DB rows, URLs)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4864"/>
            <a:ext cx="12188825" cy="50292"/>
          </a:xfrm>
          <a:prstGeom prst="rect">
            <a:avLst/>
          </a:prstGeom>
          <a:solidFill>
            <a:srgbClr val="58A6FF"/>
          </a:solidFill>
          <a:ln w="190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E6EDF3"/>
                </a:solidFill>
                <a:latin typeface="Calibri"/>
              </a:rPr>
              <a:t>Claude Code  ↔  Burp Suite —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8B949E"/>
                </a:solidFill>
                <a:latin typeface="Calibri"/>
              </a:rPr>
              <a:t>SSE Transport  ·  JSON-RPC 2.0  ·  localhost:9876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53312"/>
            <a:ext cx="11274552" cy="36576"/>
          </a:xfrm>
          <a:prstGeom prst="rect">
            <a:avLst/>
          </a:prstGeom>
          <a:solidFill>
            <a:srgbClr val="58A6FF"/>
          </a:solidFill>
          <a:ln w="190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47472" y="1874519"/>
            <a:ext cx="4709160" cy="3429000"/>
          </a:xfrm>
          <a:prstGeom prst="rect">
            <a:avLst/>
          </a:prstGeom>
          <a:solidFill>
            <a:srgbClr val="0D1117"/>
          </a:solidFill>
          <a:ln w="254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2064" y="1984247"/>
            <a:ext cx="43799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58A6FF"/>
                </a:solidFill>
                <a:latin typeface="Calibri"/>
              </a:rPr>
              <a:t>CLAUDE CODE</a:t>
            </a:r>
          </a:p>
        </p:txBody>
      </p:sp>
      <p:sp>
        <p:nvSpPr>
          <p:cNvPr id="8" name="Rectangle 7"/>
          <p:cNvSpPr/>
          <p:nvPr/>
        </p:nvSpPr>
        <p:spPr>
          <a:xfrm>
            <a:off x="530352" y="2441447"/>
            <a:ext cx="1920240" cy="2194560"/>
          </a:xfrm>
          <a:prstGeom prst="rect">
            <a:avLst/>
          </a:prstGeom>
          <a:solidFill>
            <a:srgbClr val="161B22"/>
          </a:solidFill>
          <a:ln w="19050">
            <a:solidFill>
              <a:srgbClr val="39D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532887"/>
            <a:ext cx="17007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9D353"/>
                </a:solidFill>
                <a:latin typeface="Calibri"/>
              </a:rPr>
              <a:t>LLM / BRAIN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" y="2825495"/>
            <a:ext cx="1920240" cy="10972"/>
          </a:xfrm>
          <a:prstGeom prst="rect">
            <a:avLst/>
          </a:prstGeom>
          <a:solidFill>
            <a:srgbClr val="39D353"/>
          </a:solidFill>
          <a:ln w="19050">
            <a:solidFill>
              <a:srgbClr val="39D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898647"/>
            <a:ext cx="170078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949E"/>
                </a:solidFill>
                <a:latin typeface="Calibri"/>
              </a:rPr>
              <a:t>Reads tool schemas
Decides which tool
to call
Outputs tool_use JSON
Never runs anything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50592" y="3374135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8B949E"/>
                </a:solidFill>
                <a:latin typeface="Calibri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53512" y="2441447"/>
            <a:ext cx="1920240" cy="2194560"/>
          </a:xfrm>
          <a:prstGeom prst="rect">
            <a:avLst/>
          </a:prstGeom>
          <a:solidFill>
            <a:srgbClr val="161B22"/>
          </a:solidFill>
          <a:ln w="190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63240" y="2532887"/>
            <a:ext cx="17007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8A6FF"/>
                </a:solidFill>
                <a:latin typeface="Calibri"/>
              </a:rPr>
              <a:t>MCP CLIENT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953512" y="2825495"/>
            <a:ext cx="1920240" cy="10972"/>
          </a:xfrm>
          <a:prstGeom prst="rect">
            <a:avLst/>
          </a:prstGeom>
          <a:solidFill>
            <a:srgbClr val="58A6FF"/>
          </a:solidFill>
          <a:ln w="190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63240" y="2898647"/>
            <a:ext cx="170078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949E"/>
                </a:solidFill>
                <a:latin typeface="Calibri"/>
              </a:rPr>
              <a:t>Built into
Claude Code
Routes tool calls
to correct server
Manages SSE conn
Reads .mcp.json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66360" y="2743199"/>
            <a:ext cx="1691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58A6FF"/>
                </a:solidFill>
                <a:latin typeface="Calibri"/>
              </a:rPr>
              <a:t>GET /sse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66360" y="3017519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8A6FF"/>
                </a:solidFill>
                <a:latin typeface="Consolas"/>
              </a:rPr>
              <a:t>────────►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66360" y="3291839"/>
            <a:ext cx="1691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B949E"/>
                </a:solidFill>
                <a:latin typeface="Calibri"/>
              </a:rPr>
              <a:t>persistent stream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49240" y="3703319"/>
            <a:ext cx="1325880" cy="10972"/>
          </a:xfrm>
          <a:prstGeom prst="rect">
            <a:avLst/>
          </a:prstGeom>
          <a:solidFill>
            <a:srgbClr val="8B949E"/>
          </a:solidFill>
          <a:ln w="19050">
            <a:solidFill>
              <a:srgbClr val="8B94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66360" y="3840479"/>
            <a:ext cx="1691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39D353"/>
                </a:solidFill>
                <a:latin typeface="Consolas"/>
              </a:rPr>
              <a:t>POST /  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66360" y="4114799"/>
            <a:ext cx="1691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39D353"/>
                </a:solidFill>
                <a:latin typeface="Consolas"/>
              </a:rPr>
              <a:t>◄  result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66360" y="4389119"/>
            <a:ext cx="1691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B949E"/>
                </a:solidFill>
                <a:latin typeface="Calibri"/>
              </a:rPr>
              <a:t>tool calls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303520" y="4800599"/>
            <a:ext cx="1417320" cy="384048"/>
          </a:xfrm>
          <a:prstGeom prst="rect">
            <a:avLst/>
          </a:prstGeom>
          <a:solidFill>
            <a:srgbClr val="0A121A"/>
          </a:solidFill>
          <a:ln w="12700">
            <a:solidFill>
              <a:srgbClr val="E3B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03520" y="4828031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E3B341"/>
                </a:solidFill>
                <a:latin typeface="Calibri"/>
              </a:rPr>
              <a:t>JSON-RPC 2.0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967728" y="1874519"/>
            <a:ext cx="4709160" cy="3429000"/>
          </a:xfrm>
          <a:prstGeom prst="rect">
            <a:avLst/>
          </a:prstGeom>
          <a:solidFill>
            <a:srgbClr val="0D1117"/>
          </a:solidFill>
          <a:ln w="25400">
            <a:solidFill>
              <a:srgbClr val="E3B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32320" y="1984247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3B341"/>
                </a:solidFill>
                <a:latin typeface="Calibri"/>
              </a:rPr>
              <a:t>BURP SUITE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93808" y="1984247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949E"/>
                </a:solidFill>
                <a:latin typeface="Calibri"/>
              </a:rPr>
              <a:t>localhost:9876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150608" y="2441447"/>
            <a:ext cx="4343400" cy="2194560"/>
          </a:xfrm>
          <a:prstGeom prst="rect">
            <a:avLst/>
          </a:prstGeom>
          <a:solidFill>
            <a:srgbClr val="161B22"/>
          </a:solidFill>
          <a:ln w="19050">
            <a:solidFill>
              <a:srgbClr val="E3B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60336" y="2532887"/>
            <a:ext cx="41239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3B341"/>
                </a:solidFill>
                <a:latin typeface="Calibri"/>
              </a:rPr>
              <a:t>MCP SERVER EXTENSION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50608" y="2825495"/>
            <a:ext cx="4343400" cy="10972"/>
          </a:xfrm>
          <a:prstGeom prst="rect">
            <a:avLst/>
          </a:prstGeom>
          <a:solidFill>
            <a:srgbClr val="E3B341"/>
          </a:solidFill>
          <a:ln w="19050">
            <a:solidFill>
              <a:srgbClr val="E3B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260336" y="2898647"/>
            <a:ext cx="412394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949E"/>
                </a:solidFill>
                <a:latin typeface="Calibri"/>
              </a:rPr>
              <a:t>HTTP server on :9876  (PortSwigger built this)
Exposes tools to any MCP client:
  get_proxy_http_history
  create_repeater_tab
  send_http1_request
  send_to_intruder  ...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5440680"/>
            <a:ext cx="11274552" cy="1188720"/>
          </a:xfrm>
          <a:prstGeom prst="rect">
            <a:avLst/>
          </a:prstGeom>
          <a:solidFill>
            <a:srgbClr val="0A121A"/>
          </a:solidFill>
          <a:ln w="190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641848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6EDF3"/>
                </a:solidFill>
                <a:latin typeface="Calibri"/>
              </a:rPr>
              <a:t>MCP Client (Claude Code) is the caller.   MCP Server (Burp Extension) is the worker.   The LLM is the brain — it never touches the wire.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4864"/>
            <a:ext cx="12188825" cy="50292"/>
          </a:xfrm>
          <a:prstGeom prst="rect">
            <a:avLst/>
          </a:prstGeom>
          <a:solidFill>
            <a:srgbClr val="58A6FF"/>
          </a:solidFill>
          <a:ln w="190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E6EDF3"/>
                </a:solidFill>
                <a:latin typeface="Calibri"/>
              </a:rPr>
              <a:t>The Config — 3 Lines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8B949E"/>
                </a:solidFill>
                <a:latin typeface="Calibri"/>
              </a:rPr>
              <a:t>How Claude Code knows Burp exists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53312"/>
            <a:ext cx="11274552" cy="36576"/>
          </a:xfrm>
          <a:prstGeom prst="rect">
            <a:avLst/>
          </a:prstGeom>
          <a:solidFill>
            <a:srgbClr val="58A6FF"/>
          </a:solidFill>
          <a:ln w="190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965960"/>
            <a:ext cx="5303520" cy="3246120"/>
          </a:xfrm>
          <a:prstGeom prst="rect">
            <a:avLst/>
          </a:prstGeom>
          <a:solidFill>
            <a:srgbClr val="161B22"/>
          </a:solidFill>
          <a:ln w="190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72" y="2057400"/>
            <a:ext cx="49743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8A6FF"/>
                </a:solidFill>
                <a:latin typeface="Consolas"/>
              </a:rPr>
              <a:t>.mcp.json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2423160"/>
            <a:ext cx="5303520" cy="13716"/>
          </a:xfrm>
          <a:prstGeom prst="rect">
            <a:avLst/>
          </a:prstGeom>
          <a:solidFill>
            <a:srgbClr val="58A6FF"/>
          </a:solidFill>
          <a:ln w="190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6072" y="2514600"/>
            <a:ext cx="4974336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300">
                <a:solidFill>
                  <a:srgbClr val="E6EDF3"/>
                </a:solidFill>
                <a:latin typeface="Consolas"/>
              </a:rPr>
              <a:t>{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300">
                <a:solidFill>
                  <a:srgbClr val="E6EDF3"/>
                </a:solidFill>
                <a:latin typeface="Consolas"/>
              </a:rPr>
              <a:t>  "mcpServers": {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300">
                <a:solidFill>
                  <a:srgbClr val="39D353"/>
                </a:solidFill>
                <a:latin typeface="Consolas"/>
              </a:rPr>
              <a:t>    "burp": {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300">
                <a:solidFill>
                  <a:srgbClr val="58A6FF"/>
                </a:solidFill>
                <a:latin typeface="Consolas"/>
              </a:rPr>
              <a:t>      "type": "sse",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300">
                <a:solidFill>
                  <a:srgbClr val="E3B341"/>
                </a:solidFill>
                <a:latin typeface="Consolas"/>
              </a:rPr>
              <a:t>      "url":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300">
                <a:solidFill>
                  <a:srgbClr val="FFC000"/>
                </a:solidFill>
                <a:latin typeface="Consolas"/>
              </a:rPr>
              <a:t>        "http://127.0.0.1:9876/"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300">
                <a:solidFill>
                  <a:srgbClr val="39D353"/>
                </a:solidFill>
                <a:latin typeface="Consolas"/>
              </a:rPr>
              <a:t>    }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300">
                <a:solidFill>
                  <a:srgbClr val="E6EDF3"/>
                </a:solidFill>
                <a:latin typeface="Consolas"/>
              </a:rPr>
              <a:t>  }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300">
                <a:solidFill>
                  <a:srgbClr val="E6EDF3"/>
                </a:solidFill>
                <a:latin typeface="Consolas"/>
              </a:rPr>
              <a:t>}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40" y="1965960"/>
            <a:ext cx="553212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39D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99632" y="2057400"/>
            <a:ext cx="52029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9D353"/>
                </a:solidFill>
                <a:latin typeface="Consolas"/>
              </a:rPr>
              <a:t>"burp"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99632" y="2377440"/>
            <a:ext cx="52029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949E"/>
                </a:solidFill>
                <a:latin typeface="Calibri"/>
              </a:rPr>
              <a:t>The server name — prefixes all tool calls as  mcp__burp__&lt;toolname&gt;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35040" y="3017520"/>
            <a:ext cx="553212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99632" y="3108960"/>
            <a:ext cx="52029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8A6FF"/>
                </a:solidFill>
                <a:latin typeface="Consolas"/>
              </a:rPr>
              <a:t>"type": "sse"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99632" y="3429000"/>
            <a:ext cx="52029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949E"/>
                </a:solidFill>
                <a:latin typeface="Calibri"/>
              </a:rPr>
              <a:t>SSE = Server-Sent Events over HTTP. Burp is a running app, not a spawned process — HTTP is the only way in.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35040" y="4069080"/>
            <a:ext cx="553212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E3B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99632" y="4160520"/>
            <a:ext cx="52029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3B341"/>
                </a:solidFill>
                <a:latin typeface="Consolas"/>
              </a:rPr>
              <a:t>"url": "http://127.0.0.1:9876/"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99632" y="4480560"/>
            <a:ext cx="52029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949E"/>
                </a:solidFill>
                <a:latin typeface="Calibri"/>
              </a:rPr>
              <a:t>Burp MCP Extension starts an HTTP server here. Local only — no external exposure.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35040" y="5212080"/>
            <a:ext cx="5532120" cy="1005840"/>
          </a:xfrm>
          <a:prstGeom prst="rect">
            <a:avLst/>
          </a:prstGeom>
          <a:solidFill>
            <a:srgbClr val="0A121A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99632" y="5303520"/>
            <a:ext cx="52029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8A6FF"/>
                </a:solidFill>
                <a:latin typeface="Calibri"/>
              </a:rPr>
              <a:t>What Claude Code does with this at startup: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99632" y="5596128"/>
            <a:ext cx="52029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949E"/>
                </a:solidFill>
                <a:latin typeface="Calibri"/>
              </a:rPr>
              <a:t>1.  Reads .mcp.json
2.  Connects to http://127.0.0.1:9876/ via SSE
3.  Sends tools/list → gets full tool catalogue
4.  Loads tool schemas into LLM context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5440680"/>
            <a:ext cx="11274552" cy="1188720"/>
          </a:xfrm>
          <a:prstGeom prst="rect">
            <a:avLst/>
          </a:prstGeom>
          <a:solidFill>
            <a:srgbClr val="0A121A"/>
          </a:solidFill>
          <a:ln w="190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5641848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6EDF3"/>
                </a:solidFill>
                <a:latin typeface="Calibri"/>
              </a:rPr>
              <a:t>That is the entire integration. One file, three fields. Claude Code reads it once at startup and never again.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4864"/>
            <a:ext cx="12188825" cy="50292"/>
          </a:xfrm>
          <a:prstGeom prst="rect">
            <a:avLst/>
          </a:prstGeom>
          <a:solidFill>
            <a:srgbClr val="58A6FF"/>
          </a:solidFill>
          <a:ln w="190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E6EDF3"/>
                </a:solidFill>
                <a:latin typeface="Calibri"/>
              </a:rPr>
              <a:t>The Wire — JSON-RPC 2.0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8B949E"/>
                </a:solidFill>
                <a:latin typeface="Calibri"/>
              </a:rPr>
              <a:t>Exact messages between Claude Code and Burp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53312"/>
            <a:ext cx="11274552" cy="36576"/>
          </a:xfrm>
          <a:prstGeom prst="rect">
            <a:avLst/>
          </a:prstGeom>
          <a:solidFill>
            <a:srgbClr val="58A6FF"/>
          </a:solidFill>
          <a:ln w="190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47472" y="1938528"/>
            <a:ext cx="3429000" cy="3063240"/>
          </a:xfrm>
          <a:prstGeom prst="rect">
            <a:avLst/>
          </a:prstGeom>
          <a:solidFill>
            <a:srgbClr val="161B22"/>
          </a:solidFill>
          <a:ln w="190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2064" y="2029968"/>
            <a:ext cx="30998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8A6FF"/>
                </a:solidFill>
                <a:latin typeface="Consolas"/>
              </a:rPr>
              <a:t>1  STARTUP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" y="2395728"/>
            <a:ext cx="3429000" cy="13716"/>
          </a:xfrm>
          <a:prstGeom prst="rect">
            <a:avLst/>
          </a:prstGeom>
          <a:solidFill>
            <a:srgbClr val="58A6FF"/>
          </a:solidFill>
          <a:ln w="190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2064" y="2487168"/>
            <a:ext cx="3099816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300">
                <a:solidFill>
                  <a:srgbClr val="E6EDF3"/>
                </a:solidFill>
                <a:latin typeface="Consolas"/>
              </a:rPr>
              <a:t>{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300">
                <a:solidFill>
                  <a:srgbClr val="E6EDF3"/>
                </a:solidFill>
                <a:latin typeface="Consolas"/>
              </a:rPr>
              <a:t>  "jsonrpc": "2.0",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300">
                <a:solidFill>
                  <a:srgbClr val="E6EDF3"/>
                </a:solidFill>
                <a:latin typeface="Consolas"/>
              </a:rPr>
              <a:t>  "id": 1,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300">
                <a:solidFill>
                  <a:srgbClr val="E6EDF3"/>
                </a:solidFill>
                <a:latin typeface="Consolas"/>
              </a:rPr>
              <a:t>  "method":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300">
                <a:solidFill>
                  <a:srgbClr val="39D353"/>
                </a:solidFill>
                <a:latin typeface="Consolas"/>
              </a:rPr>
              <a:t>    "tools/list",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300">
                <a:solidFill>
                  <a:srgbClr val="E6EDF3"/>
                </a:solidFill>
                <a:latin typeface="Consolas"/>
              </a:rPr>
              <a:t>  "params": {}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300">
                <a:solidFill>
                  <a:srgbClr val="E6EDF3"/>
                </a:solidFill>
                <a:latin typeface="Consolas"/>
              </a:rPr>
              <a:t>}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300">
                <a:solidFill>
                  <a:srgbClr val="E6EDF3"/>
                </a:solidFill>
                <a:latin typeface="Consolas"/>
              </a:rPr>
              <a:t/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300">
                <a:solidFill>
                  <a:srgbClr val="8B949E"/>
                </a:solidFill>
                <a:latin typeface="Consolas"/>
              </a:rPr>
              <a:t>► Claude asks Burp: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300">
                <a:solidFill>
                  <a:srgbClr val="58A6FF"/>
                </a:solidFill>
                <a:latin typeface="Consolas"/>
              </a:rPr>
              <a:t>"what tools do you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300">
                <a:solidFill>
                  <a:srgbClr val="58A6FF"/>
                </a:solidFill>
                <a:latin typeface="Consolas"/>
              </a:rPr>
              <a:t>  have?"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42232" y="1938528"/>
            <a:ext cx="3429000" cy="3063240"/>
          </a:xfrm>
          <a:prstGeom prst="rect">
            <a:avLst/>
          </a:prstGeom>
          <a:solidFill>
            <a:srgbClr val="161B22"/>
          </a:solidFill>
          <a:ln w="19050">
            <a:solidFill>
              <a:srgbClr val="39D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06824" y="2029968"/>
            <a:ext cx="30998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9D353"/>
                </a:solidFill>
                <a:latin typeface="Consolas"/>
              </a:rPr>
              <a:t>2  TOOL CALL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42232" y="2395728"/>
            <a:ext cx="3429000" cy="13716"/>
          </a:xfrm>
          <a:prstGeom prst="rect">
            <a:avLst/>
          </a:prstGeom>
          <a:solidFill>
            <a:srgbClr val="39D353"/>
          </a:solidFill>
          <a:ln w="19050">
            <a:solidFill>
              <a:srgbClr val="39D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06824" y="2487168"/>
            <a:ext cx="3099816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300">
                <a:solidFill>
                  <a:srgbClr val="E6EDF3"/>
                </a:solidFill>
                <a:latin typeface="Consolas"/>
              </a:rPr>
              <a:t>{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300">
                <a:solidFill>
                  <a:srgbClr val="E6EDF3"/>
                </a:solidFill>
                <a:latin typeface="Consolas"/>
              </a:rPr>
              <a:t>  "jsonrpc": "2.0",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300">
                <a:solidFill>
                  <a:srgbClr val="E6EDF3"/>
                </a:solidFill>
                <a:latin typeface="Consolas"/>
              </a:rPr>
              <a:t>  "id": 2,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300">
                <a:solidFill>
                  <a:srgbClr val="E6EDF3"/>
                </a:solidFill>
                <a:latin typeface="Consolas"/>
              </a:rPr>
              <a:t>  "method":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300">
                <a:solidFill>
                  <a:srgbClr val="39D353"/>
                </a:solidFill>
                <a:latin typeface="Consolas"/>
              </a:rPr>
              <a:t>    "tools/call",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300">
                <a:solidFill>
                  <a:srgbClr val="E6EDF3"/>
                </a:solidFill>
                <a:latin typeface="Consolas"/>
              </a:rPr>
              <a:t>  "params": {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300">
                <a:solidFill>
                  <a:srgbClr val="E6EDF3"/>
                </a:solidFill>
                <a:latin typeface="Consolas"/>
              </a:rPr>
              <a:t>    "name":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300">
                <a:solidFill>
                  <a:srgbClr val="58A6FF"/>
                </a:solidFill>
                <a:latin typeface="Consolas"/>
              </a:rPr>
              <a:t>      "get_proxy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300">
                <a:solidFill>
                  <a:srgbClr val="58A6FF"/>
                </a:solidFill>
                <a:latin typeface="Consolas"/>
              </a:rPr>
              <a:t>       _http_history"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300">
                <a:solidFill>
                  <a:srgbClr val="E6EDF3"/>
                </a:solidFill>
                <a:latin typeface="Consolas"/>
              </a:rPr>
              <a:t>    "arguments": {}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300">
                <a:solidFill>
                  <a:srgbClr val="E6EDF3"/>
                </a:solidFill>
                <a:latin typeface="Consolas"/>
              </a:rPr>
              <a:t>  }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300">
                <a:solidFill>
                  <a:srgbClr val="E6EDF3"/>
                </a:solidFill>
                <a:latin typeface="Consolas"/>
              </a:rPr>
              <a:t>}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36992" y="1938528"/>
            <a:ext cx="3429000" cy="3063240"/>
          </a:xfrm>
          <a:prstGeom prst="rect">
            <a:avLst/>
          </a:prstGeom>
          <a:solidFill>
            <a:srgbClr val="161B22"/>
          </a:solidFill>
          <a:ln w="19050">
            <a:solidFill>
              <a:srgbClr val="E3B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01584" y="2029968"/>
            <a:ext cx="30998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3B341"/>
                </a:solidFill>
                <a:latin typeface="Consolas"/>
              </a:rPr>
              <a:t>3  RESULT BACK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36992" y="2395728"/>
            <a:ext cx="3429000" cy="13716"/>
          </a:xfrm>
          <a:prstGeom prst="rect">
            <a:avLst/>
          </a:prstGeom>
          <a:solidFill>
            <a:srgbClr val="E3B341"/>
          </a:solidFill>
          <a:ln w="19050">
            <a:solidFill>
              <a:srgbClr val="E3B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01584" y="2487168"/>
            <a:ext cx="3099816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300">
                <a:solidFill>
                  <a:srgbClr val="E6EDF3"/>
                </a:solidFill>
                <a:latin typeface="Consolas"/>
              </a:rPr>
              <a:t>{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300">
                <a:solidFill>
                  <a:srgbClr val="E6EDF3"/>
                </a:solidFill>
                <a:latin typeface="Consolas"/>
              </a:rPr>
              <a:t>  "jsonrpc": "2.0",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300">
                <a:solidFill>
                  <a:srgbClr val="E6EDF3"/>
                </a:solidFill>
                <a:latin typeface="Consolas"/>
              </a:rPr>
              <a:t>  "id": 2,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300">
                <a:solidFill>
                  <a:srgbClr val="E6EDF3"/>
                </a:solidFill>
                <a:latin typeface="Consolas"/>
              </a:rPr>
              <a:t>  "result": {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300">
                <a:solidFill>
                  <a:srgbClr val="E6EDF3"/>
                </a:solidFill>
                <a:latin typeface="Consolas"/>
              </a:rPr>
              <a:t>    "content": [{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300">
                <a:solidFill>
                  <a:srgbClr val="E6EDF3"/>
                </a:solidFill>
                <a:latin typeface="Consolas"/>
              </a:rPr>
              <a:t>      "type": "text",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300">
                <a:solidFill>
                  <a:srgbClr val="E6EDF3"/>
                </a:solidFill>
                <a:latin typeface="Consolas"/>
              </a:rPr>
              <a:t>      "text":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300">
                <a:solidFill>
                  <a:srgbClr val="E3B341"/>
                </a:solidFill>
                <a:latin typeface="Consolas"/>
              </a:rPr>
              <a:t>       "[{url: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300">
                <a:solidFill>
                  <a:srgbClr val="E3B341"/>
                </a:solidFill>
                <a:latin typeface="Consolas"/>
              </a:rPr>
              <a:t>         /login,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300">
                <a:solidFill>
                  <a:srgbClr val="E3B341"/>
                </a:solidFill>
                <a:latin typeface="Consolas"/>
              </a:rPr>
              <a:t>         status: 200}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300">
                <a:solidFill>
                  <a:srgbClr val="E3B341"/>
                </a:solidFill>
                <a:latin typeface="Consolas"/>
              </a:rPr>
              <a:t>         ...]"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300">
                <a:solidFill>
                  <a:srgbClr val="E6EDF3"/>
                </a:solidFill>
                <a:latin typeface="Consolas"/>
              </a:rPr>
              <a:t>    }]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300">
                <a:solidFill>
                  <a:srgbClr val="E6EDF3"/>
                </a:solidFill>
                <a:latin typeface="Consolas"/>
              </a:rPr>
              <a:t>  }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300">
                <a:solidFill>
                  <a:srgbClr val="E6EDF3"/>
                </a:solidFill>
                <a:latin typeface="Consolas"/>
              </a:rPr>
              <a:t>}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22192" y="3287268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8B949E"/>
                </a:solidFill>
                <a:latin typeface="Calibri"/>
              </a:rPr>
              <a:t>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16952" y="3287268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8B949E"/>
                </a:solidFill>
                <a:latin typeface="Calibri"/>
              </a:rPr>
              <a:t>►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440680"/>
            <a:ext cx="11274552" cy="1188720"/>
          </a:xfrm>
          <a:prstGeom prst="rect">
            <a:avLst/>
          </a:prstGeom>
          <a:solidFill>
            <a:srgbClr val="0A121A"/>
          </a:solidFill>
          <a:ln w="190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5641848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6EDF3"/>
                </a:solidFill>
                <a:latin typeface="Calibri"/>
              </a:rPr>
              <a:t>The LLM outputs a tool_use JSON block — it never writes to the socket. Claude Code wraps it in JSON-RPC and POSTs to Burp. Burp runs code, returns JSON. That result goes back into the LLM context.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4864"/>
            <a:ext cx="12188825" cy="50292"/>
          </a:xfrm>
          <a:prstGeom prst="rect">
            <a:avLst/>
          </a:prstGeom>
          <a:solidFill>
            <a:srgbClr val="58A6FF"/>
          </a:solidFill>
          <a:ln w="190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E6EDF3"/>
                </a:solidFill>
                <a:latin typeface="Calibri"/>
              </a:rPr>
              <a:t>The Analogy — Doctor &amp;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8B949E"/>
                </a:solidFill>
                <a:latin typeface="Calibri"/>
              </a:rPr>
              <a:t>Why each player has exactly one job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53312"/>
            <a:ext cx="11274552" cy="36576"/>
          </a:xfrm>
          <a:prstGeom prst="rect">
            <a:avLst/>
          </a:prstGeom>
          <a:solidFill>
            <a:srgbClr val="58A6FF"/>
          </a:solidFill>
          <a:ln w="190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965960"/>
            <a:ext cx="3200400" cy="2560320"/>
          </a:xfrm>
          <a:prstGeom prst="rect">
            <a:avLst/>
          </a:prstGeom>
          <a:solidFill>
            <a:srgbClr val="161B22"/>
          </a:solidFill>
          <a:ln w="19050">
            <a:solidFill>
              <a:srgbClr val="39D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075688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9D353"/>
                </a:solidFill>
                <a:latin typeface="Calibri"/>
              </a:rPr>
              <a:t>DOCTOR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423160"/>
            <a:ext cx="3200400" cy="10972"/>
          </a:xfrm>
          <a:prstGeom prst="rect">
            <a:avLst/>
          </a:prstGeom>
          <a:solidFill>
            <a:srgbClr val="39D353"/>
          </a:solidFill>
          <a:ln w="19050">
            <a:solidFill>
              <a:srgbClr val="39D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496312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6EDF3"/>
                </a:solidFill>
                <a:latin typeface="Calibri"/>
              </a:rPr>
              <a:t>= LLM (Brain)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971800"/>
            <a:ext cx="2926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B949E"/>
                </a:solidFill>
                <a:latin typeface="Calibri"/>
              </a:rPr>
              <a:t>Decides what test
is needed.
Never enters the lab.
Only reads the report.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23360" y="1965960"/>
            <a:ext cx="3200400" cy="2560320"/>
          </a:xfrm>
          <a:prstGeom prst="rect">
            <a:avLst/>
          </a:prstGeom>
          <a:solidFill>
            <a:srgbClr val="161B22"/>
          </a:solidFill>
          <a:ln w="190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60520" y="2075688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58A6FF"/>
                </a:solidFill>
                <a:latin typeface="Calibri"/>
              </a:rPr>
              <a:t>RECEPTIONIST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23360" y="2423160"/>
            <a:ext cx="3200400" cy="10972"/>
          </a:xfrm>
          <a:prstGeom prst="rect">
            <a:avLst/>
          </a:prstGeom>
          <a:solidFill>
            <a:srgbClr val="58A6FF"/>
          </a:solidFill>
          <a:ln w="190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60520" y="2496312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6EDF3"/>
                </a:solidFill>
                <a:latin typeface="Calibri"/>
              </a:rPr>
              <a:t>= Claude Code
(MCP Client)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60520" y="2971800"/>
            <a:ext cx="2926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B949E"/>
                </a:solidFill>
                <a:latin typeface="Calibri"/>
              </a:rPr>
              <a:t>Takes the doctor's
order form.
Walks it to the lab.
Brings report back.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89520" y="1965960"/>
            <a:ext cx="3200400" cy="2560320"/>
          </a:xfrm>
          <a:prstGeom prst="rect">
            <a:avLst/>
          </a:prstGeom>
          <a:solidFill>
            <a:srgbClr val="161B22"/>
          </a:solidFill>
          <a:ln w="19050">
            <a:solidFill>
              <a:srgbClr val="E3B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26680" y="2075688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3B341"/>
                </a:solidFill>
                <a:latin typeface="Calibri"/>
              </a:rPr>
              <a:t>LAB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589520" y="2423160"/>
            <a:ext cx="3200400" cy="10972"/>
          </a:xfrm>
          <a:prstGeom prst="rect">
            <a:avLst/>
          </a:prstGeom>
          <a:solidFill>
            <a:srgbClr val="E3B341"/>
          </a:solidFill>
          <a:ln w="19050">
            <a:solidFill>
              <a:srgbClr val="E3B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26680" y="2496312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6EDF3"/>
                </a:solidFill>
                <a:latin typeface="Calibri"/>
              </a:rPr>
              <a:t>= Burp Suite
(MCP Server)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26680" y="2971800"/>
            <a:ext cx="2926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B949E"/>
                </a:solidFill>
                <a:latin typeface="Calibri"/>
              </a:rPr>
              <a:t>Runs the actual test.
Never talks to the
patient directly.
Just executes and
returns results.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03320" y="30632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8B949E"/>
                </a:solidFill>
                <a:latin typeface="Calibri"/>
              </a:rPr>
              <a:t>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69480" y="30632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8B949E"/>
                </a:solidFill>
                <a:latin typeface="Calibri"/>
              </a:rPr>
              <a:t>►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0" y="4754880"/>
            <a:ext cx="3931920" cy="502920"/>
          </a:xfrm>
          <a:prstGeom prst="rect">
            <a:avLst/>
          </a:prstGeom>
          <a:solidFill>
            <a:srgbClr val="0A121A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0" y="4782312"/>
            <a:ext cx="3931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58A6FF"/>
                </a:solidFill>
                <a:latin typeface="Calibri"/>
              </a:rPr>
              <a:t>The order form they all use  =  MCP Protocol (JSON-RPC 2.0)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486400"/>
            <a:ext cx="10972800" cy="914400"/>
          </a:xfrm>
          <a:prstGeom prst="rect">
            <a:avLst/>
          </a:prstGeom>
          <a:solidFill>
            <a:srgbClr val="0A121A"/>
          </a:solidFill>
          <a:ln w="12700">
            <a:solidFill>
              <a:srgbClr val="39D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55778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9D353"/>
                </a:solidFill>
                <a:latin typeface="Calibri"/>
              </a:rPr>
              <a:t>The key insight: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51760" y="557784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6EDF3"/>
                </a:solidFill>
                <a:latin typeface="Calibri"/>
              </a:rPr>
              <a:t>The doctor never entered the lab.   The lab never talked to the patient.   That clean separation — one job per player — is the entire design of MCP.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5440680"/>
            <a:ext cx="11274552" cy="1188720"/>
          </a:xfrm>
          <a:prstGeom prst="rect">
            <a:avLst/>
          </a:prstGeom>
          <a:solidFill>
            <a:srgbClr val="0A121A"/>
          </a:solidFill>
          <a:ln w="190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5641848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6EDF3"/>
                </a:solidFill>
                <a:latin typeface="Calibri"/>
              </a:rPr>
              <a:t>Anthropic wrote the order form (MCP spec).   PortSwigger built the lab (Burp Extension).   You wrote the config (.mcp.json).   Claude Code is the receptionist.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4864"/>
            <a:ext cx="12188952" cy="50292"/>
          </a:xfrm>
          <a:prstGeom prst="rect">
            <a:avLst/>
          </a:prstGeom>
          <a:solidFill>
            <a:srgbClr val="58A6FF"/>
          </a:solidFill>
          <a:ln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E6EDF3"/>
                </a:solidFill>
                <a:latin typeface="Segoe UI"/>
              </a:rPr>
              <a:t>MCP in the Wild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8B949E"/>
                </a:solidFill>
                <a:latin typeface="Segoe UI"/>
              </a:rPr>
              <a:t>Who is using it and what for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53312"/>
            <a:ext cx="11274552" cy="36576"/>
          </a:xfrm>
          <a:prstGeom prst="rect">
            <a:avLst/>
          </a:prstGeom>
          <a:solidFill>
            <a:srgbClr val="58A6FF"/>
          </a:solidFill>
          <a:ln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600200"/>
            <a:ext cx="3703320" cy="4892040"/>
          </a:xfrm>
          <a:prstGeom prst="rect">
            <a:avLst/>
          </a:prstGeom>
          <a:solidFill>
            <a:srgbClr val="161B22"/>
          </a:solidFill>
          <a:ln w="254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691640"/>
            <a:ext cx="3520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58A6FF"/>
                </a:solidFill>
                <a:latin typeface="Segoe UI"/>
              </a:rPr>
              <a:t>Developer Tools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103120"/>
            <a:ext cx="3520440" cy="27432"/>
          </a:xfrm>
          <a:prstGeom prst="rect">
            <a:avLst/>
          </a:prstGeom>
          <a:solidFill>
            <a:srgbClr val="58A6FF"/>
          </a:solidFill>
          <a:ln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2240280"/>
            <a:ext cx="33832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6EDF3"/>
                </a:solidFill>
                <a:latin typeface="Segoe UI"/>
              </a:rPr>
              <a:t>▸  VS Code + GitHub Copilot → MCP for code context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807208"/>
            <a:ext cx="33832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6EDF3"/>
                </a:solidFill>
                <a:latin typeface="Segoe UI"/>
              </a:rPr>
              <a:t>▸  Cursor → connects to local files, terminal, docs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374136"/>
            <a:ext cx="33832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6EDF3"/>
                </a:solidFill>
                <a:latin typeface="Segoe UI"/>
              </a:rPr>
              <a:t>▸  JetBrains AI → MCP for project-aware completions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941064"/>
            <a:ext cx="33832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6EDF3"/>
                </a:solidFill>
                <a:latin typeface="Segoe UI"/>
              </a:rPr>
              <a:t>▸  Windsurf → full agentic dev environment via MCP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79392" y="1600200"/>
            <a:ext cx="3703320" cy="4892040"/>
          </a:xfrm>
          <a:prstGeom prst="rect">
            <a:avLst/>
          </a:prstGeom>
          <a:solidFill>
            <a:srgbClr val="161B22"/>
          </a:solidFill>
          <a:ln w="25400">
            <a:solidFill>
              <a:srgbClr val="39D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370832" y="1691640"/>
            <a:ext cx="3520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39D353"/>
                </a:solidFill>
                <a:latin typeface="Segoe UI"/>
              </a:rPr>
              <a:t>Enterprise AI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70832" y="2103120"/>
            <a:ext cx="3520440" cy="27432"/>
          </a:xfrm>
          <a:prstGeom prst="rect">
            <a:avLst/>
          </a:prstGeom>
          <a:solidFill>
            <a:srgbClr val="39D353"/>
          </a:solidFill>
          <a:ln>
            <a:solidFill>
              <a:srgbClr val="39D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462272" y="2240280"/>
            <a:ext cx="33832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6EDF3"/>
                </a:solidFill>
                <a:latin typeface="Segoe UI"/>
              </a:rPr>
              <a:t>▸  Claude Desktop → 5,000+ community MCP servers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62272" y="2807208"/>
            <a:ext cx="33832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6EDF3"/>
                </a:solidFill>
                <a:latin typeface="Segoe UI"/>
              </a:rPr>
              <a:t>▸  Big 4 / Big Tech → internal automation agents on MCP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62272" y="3374136"/>
            <a:ext cx="33832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6EDF3"/>
                </a:solidFill>
                <a:latin typeface="Segoe UI"/>
              </a:rPr>
              <a:t>▸  ServiceNow → AI agents with MCP tool connectors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62272" y="3941064"/>
            <a:ext cx="33832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6EDF3"/>
                </a:solidFill>
                <a:latin typeface="Segoe UI"/>
              </a:rPr>
              <a:t>▸  Salesforce Einstein → CRM actions via MCP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93024" y="1600200"/>
            <a:ext cx="3703320" cy="4892040"/>
          </a:xfrm>
          <a:prstGeom prst="rect">
            <a:avLst/>
          </a:prstGeom>
          <a:solidFill>
            <a:srgbClr val="161B22"/>
          </a:solidFill>
          <a:ln w="25400">
            <a:solidFill>
              <a:srgbClr val="E3B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84464" y="1691640"/>
            <a:ext cx="3520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E3B341"/>
                </a:solidFill>
                <a:latin typeface="Segoe UI"/>
              </a:rPr>
              <a:t>Cloud &amp; Infra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84464" y="2103120"/>
            <a:ext cx="3520440" cy="27432"/>
          </a:xfrm>
          <a:prstGeom prst="rect">
            <a:avLst/>
          </a:prstGeom>
          <a:solidFill>
            <a:srgbClr val="E3B341"/>
          </a:solidFill>
          <a:ln>
            <a:solidFill>
              <a:srgbClr val="E3B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375904" y="2240280"/>
            <a:ext cx="33832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6EDF3"/>
                </a:solidFill>
                <a:latin typeface="Segoe UI"/>
              </a:rPr>
              <a:t>▸  AWS MCP Server → S3, EC2, IAM actions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75904" y="2807208"/>
            <a:ext cx="33832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6EDF3"/>
                </a:solidFill>
                <a:latin typeface="Segoe UI"/>
              </a:rPr>
              <a:t>▸  Azure AI Foundry → MCP for enterprise agents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75904" y="3374136"/>
            <a:ext cx="33832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6EDF3"/>
                </a:solidFill>
                <a:latin typeface="Segoe UI"/>
              </a:rPr>
              <a:t>▸  Docker MCP Catalog → containerised server registry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75904" y="3941064"/>
            <a:ext cx="33832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6EDF3"/>
                </a:solidFill>
                <a:latin typeface="Segoe UI"/>
              </a:rPr>
              <a:t>▸  Smithery.ai → public MCP server marketplace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537960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8B949E"/>
                </a:solidFill>
                <a:latin typeface="Segoe UI"/>
              </a:rPr>
              <a:t>5,000+ public MCP servers  ·  Growing faster than npm packages in 2015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4864"/>
            <a:ext cx="12188952" cy="50292"/>
          </a:xfrm>
          <a:prstGeom prst="rect">
            <a:avLst/>
          </a:prstGeom>
          <a:solidFill>
            <a:srgbClr val="FF7B72"/>
          </a:solidFill>
          <a:ln>
            <a:solidFill>
              <a:srgbClr val="FF7B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E6EDF3"/>
                </a:solidFill>
                <a:latin typeface="Segoe UI"/>
              </a:rPr>
              <a:t>Why MCP Matters for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8B949E"/>
                </a:solidFill>
                <a:latin typeface="Segoe UI"/>
              </a:rPr>
              <a:t>Quick context — then we move to the tool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53312"/>
            <a:ext cx="11274552" cy="36576"/>
          </a:xfrm>
          <a:prstGeom prst="rect">
            <a:avLst/>
          </a:prstGeom>
          <a:solidFill>
            <a:srgbClr val="FF7B72"/>
          </a:solidFill>
          <a:ln>
            <a:solidFill>
              <a:srgbClr val="FF7B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6EDF3"/>
                </a:solidFill>
                <a:latin typeface="Segoe UI"/>
              </a:rPr>
              <a:t>MCP gives AI models the ability to take real actions in the real world.
That means the security of the MCP server = the security of everything it can touch.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468880"/>
            <a:ext cx="11247120" cy="621792"/>
          </a:xfrm>
          <a:prstGeom prst="rect">
            <a:avLst/>
          </a:prstGeom>
          <a:solidFill>
            <a:srgbClr val="161B22"/>
          </a:solidFill>
          <a:ln w="12700">
            <a:solidFill>
              <a:srgbClr val="FF7B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2560320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7B72"/>
                </a:solidFill>
                <a:latin typeface="Segoe UI"/>
              </a:rPr>
              <a:t>⚡  File system access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2587752"/>
            <a:ext cx="7589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6EDF3"/>
                </a:solidFill>
                <a:latin typeface="Segoe UI"/>
              </a:rPr>
              <a:t>Read/write arbitrary files on the host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163824"/>
            <a:ext cx="11247120" cy="621792"/>
          </a:xfrm>
          <a:prstGeom prst="rect">
            <a:avLst/>
          </a:prstGeom>
          <a:solidFill>
            <a:srgbClr val="161B22"/>
          </a:solidFill>
          <a:ln w="12700">
            <a:solidFill>
              <a:srgbClr val="FF7B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3255264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7B72"/>
                </a:solidFill>
                <a:latin typeface="Segoe UI"/>
              </a:rPr>
              <a:t>⚡  Database queries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3282696"/>
            <a:ext cx="7589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6EDF3"/>
                </a:solidFill>
                <a:latin typeface="Segoe UI"/>
              </a:rPr>
              <a:t>SELECT * FROM users — the AI can do it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858768"/>
            <a:ext cx="11247120" cy="621792"/>
          </a:xfrm>
          <a:prstGeom prst="rect">
            <a:avLst/>
          </a:prstGeom>
          <a:solidFill>
            <a:srgbClr val="161B22"/>
          </a:solidFill>
          <a:ln w="12700">
            <a:solidFill>
              <a:srgbClr val="FF7B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3950207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7B72"/>
                </a:solidFill>
                <a:latin typeface="Segoe UI"/>
              </a:rPr>
              <a:t>⚡  API calls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3977639"/>
            <a:ext cx="7589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6EDF3"/>
                </a:solidFill>
                <a:latin typeface="Segoe UI"/>
              </a:rPr>
              <a:t>Publish to CRM/ERP, send emails, call webhooks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553712"/>
            <a:ext cx="11247120" cy="621792"/>
          </a:xfrm>
          <a:prstGeom prst="rect">
            <a:avLst/>
          </a:prstGeom>
          <a:solidFill>
            <a:srgbClr val="161B22"/>
          </a:solidFill>
          <a:ln w="12700">
            <a:solidFill>
              <a:srgbClr val="FF7B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4645151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7B72"/>
                </a:solidFill>
                <a:latin typeface="Segoe UI"/>
              </a:rPr>
              <a:t>⚡  Code execution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0" y="4672583"/>
            <a:ext cx="7589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6EDF3"/>
                </a:solidFill>
                <a:latin typeface="Segoe UI"/>
              </a:rPr>
              <a:t>run_shell → any bash command on the container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248655"/>
            <a:ext cx="11247120" cy="621792"/>
          </a:xfrm>
          <a:prstGeom prst="rect">
            <a:avLst/>
          </a:prstGeom>
          <a:solidFill>
            <a:srgbClr val="161B22"/>
          </a:solidFill>
          <a:ln w="12700">
            <a:solidFill>
              <a:srgbClr val="FF7B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" y="5340095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7B72"/>
                </a:solidFill>
                <a:latin typeface="Segoe UI"/>
              </a:rPr>
              <a:t>⚡  Cross-tool chaining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31920" y="5367527"/>
            <a:ext cx="7589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6EDF3"/>
                </a:solidFill>
                <a:latin typeface="Segoe UI"/>
              </a:rPr>
              <a:t>Read with one tool → write with another → exfiltrate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03504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9D353"/>
                </a:solidFill>
                <a:latin typeface="Segoe UI"/>
              </a:rPr>
              <a:t>This is exactly why we built Bugtrotter — to test MCP servers and the apps they connect to.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4864"/>
            <a:ext cx="12188952" cy="50292"/>
          </a:xfrm>
          <a:prstGeom prst="rect">
            <a:avLst/>
          </a:prstGeom>
          <a:solidFill>
            <a:srgbClr val="39D353"/>
          </a:solidFill>
          <a:ln>
            <a:solidFill>
              <a:srgbClr val="39D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E6EDF3"/>
                </a:solidFill>
                <a:latin typeface="Segoe UI"/>
              </a:rPr>
              <a:t>Bugtrotter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39D353"/>
                </a:solidFill>
                <a:latin typeface="Segoe UI"/>
              </a:rPr>
              <a:t>Full-Spectrum Red Team MCP Framework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89888"/>
            <a:ext cx="11274552" cy="36576"/>
          </a:xfrm>
          <a:prstGeom prst="rect">
            <a:avLst/>
          </a:prstGeom>
          <a:solidFill>
            <a:srgbClr val="30363D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53619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8B949E"/>
                </a:solidFill>
                <a:latin typeface="Segoe UI"/>
              </a:rPr>
              <a:t>What it solves: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6EDF3"/>
                </a:solidFill>
                <a:latin typeface="Segoe UI"/>
              </a:rPr>
              <a:t>Pentesters waste time on tool fragmentation, context loss between phases, dependency hell,
and pivoting inside non-TTY sessions. Bugtrotter is a single MCP server that covers everything
from external recon to AD forest compromise to web app pentesting — without leaving Claude Code.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063240"/>
            <a:ext cx="2651760" cy="2423160"/>
          </a:xfrm>
          <a:prstGeom prst="rect">
            <a:avLst/>
          </a:prstGeom>
          <a:solidFill>
            <a:srgbClr val="161B22"/>
          </a:solidFill>
          <a:ln w="25400">
            <a:solidFill>
              <a:srgbClr val="39D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3154680"/>
            <a:ext cx="2468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39D353"/>
                </a:solidFill>
                <a:latin typeface="Segoe UI"/>
              </a:rPr>
              <a:t>kali-redteam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602736"/>
            <a:ext cx="2468880" cy="27432"/>
          </a:xfrm>
          <a:prstGeom prst="rect">
            <a:avLst/>
          </a:prstGeom>
          <a:solidFill>
            <a:srgbClr val="39D353"/>
          </a:solidFill>
          <a:ln>
            <a:solidFill>
              <a:srgbClr val="39D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3703320"/>
            <a:ext cx="2468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E6EDF3"/>
                </a:solidFill>
                <a:latin typeface="Segoe UI"/>
              </a:rPr>
              <a:t>AD / Linux / Network
MCP Server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55848" y="3063240"/>
            <a:ext cx="2651760" cy="2423160"/>
          </a:xfrm>
          <a:prstGeom prst="rect">
            <a:avLst/>
          </a:prstGeom>
          <a:solidFill>
            <a:srgbClr val="161B22"/>
          </a:solidFill>
          <a:ln w="254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447288" y="3154680"/>
            <a:ext cx="2468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58A6FF"/>
                </a:solidFill>
                <a:latin typeface="Segoe UI"/>
              </a:rPr>
              <a:t>pentest-kb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47288" y="3602736"/>
            <a:ext cx="2468880" cy="27432"/>
          </a:xfrm>
          <a:prstGeom prst="rect">
            <a:avLst/>
          </a:prstGeom>
          <a:solidFill>
            <a:srgbClr val="58A6FF"/>
          </a:solidFill>
          <a:ln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447288" y="3703320"/>
            <a:ext cx="2468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E6EDF3"/>
                </a:solidFill>
                <a:latin typeface="Segoe UI"/>
              </a:rPr>
              <a:t>Web App Skills
MCP Server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54496" y="3063240"/>
            <a:ext cx="2651760" cy="2423160"/>
          </a:xfrm>
          <a:prstGeom prst="rect">
            <a:avLst/>
          </a:prstGeom>
          <a:solidFill>
            <a:srgbClr val="161B22"/>
          </a:solidFill>
          <a:ln w="25400">
            <a:solidFill>
              <a:srgbClr val="E3B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45936" y="3154680"/>
            <a:ext cx="2468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E3B341"/>
                </a:solidFill>
                <a:latin typeface="Segoe UI"/>
              </a:rPr>
              <a:t>MCPTROTTER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45936" y="3602736"/>
            <a:ext cx="2468880" cy="27432"/>
          </a:xfrm>
          <a:prstGeom prst="rect">
            <a:avLst/>
          </a:prstGeom>
          <a:solidFill>
            <a:srgbClr val="E3B341"/>
          </a:solidFill>
          <a:ln>
            <a:solidFill>
              <a:srgbClr val="E3B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45936" y="3703320"/>
            <a:ext cx="2468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E6EDF3"/>
                </a:solidFill>
                <a:latin typeface="Segoe UI"/>
              </a:rPr>
              <a:t>MCP Pentest Tool
pip install mcppt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53144" y="3063240"/>
            <a:ext cx="2651760" cy="2423160"/>
          </a:xfrm>
          <a:prstGeom prst="rect">
            <a:avLst/>
          </a:prstGeom>
          <a:solidFill>
            <a:srgbClr val="161B22"/>
          </a:solidFill>
          <a:ln w="25400">
            <a:solidFill>
              <a:srgbClr val="FF7B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244584" y="3154680"/>
            <a:ext cx="2468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7B72"/>
                </a:solidFill>
                <a:latin typeface="Segoe UI"/>
              </a:rPr>
              <a:t>Burp MCP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244584" y="3602736"/>
            <a:ext cx="2468880" cy="27432"/>
          </a:xfrm>
          <a:prstGeom prst="rect">
            <a:avLst/>
          </a:prstGeom>
          <a:solidFill>
            <a:srgbClr val="FF7B72"/>
          </a:solidFill>
          <a:ln>
            <a:solidFill>
              <a:srgbClr val="FF7B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244584" y="3703320"/>
            <a:ext cx="2468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E6EDF3"/>
                </a:solidFill>
                <a:latin typeface="Segoe UI"/>
              </a:rPr>
              <a:t>Proxy Integration
SSE at :9876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669280"/>
            <a:ext cx="11274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8B949E"/>
                </a:solidFill>
                <a:latin typeface="Segoe UI"/>
              </a:rPr>
              <a:t>Author: Gurudeep Mallam  ·  github.com/gurudeepmallam-cmd/bugtrotter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4864"/>
            <a:ext cx="12188952" cy="50292"/>
          </a:xfrm>
          <a:prstGeom prst="rect">
            <a:avLst/>
          </a:prstGeom>
          <a:solidFill>
            <a:srgbClr val="39D353"/>
          </a:solidFill>
          <a:ln>
            <a:solidFill>
              <a:srgbClr val="39D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E6EDF3"/>
                </a:solidFill>
                <a:latin typeface="Segoe UI"/>
              </a:rPr>
              <a:t>Bugtrotter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8B949E"/>
                </a:solidFill>
                <a:latin typeface="Segoe UI"/>
              </a:rPr>
              <a:t>How you interact with it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53312"/>
            <a:ext cx="11274552" cy="36576"/>
          </a:xfrm>
          <a:prstGeom prst="rect">
            <a:avLst/>
          </a:prstGeom>
          <a:solidFill>
            <a:srgbClr val="39D353"/>
          </a:solidFill>
          <a:ln>
            <a:solidFill>
              <a:srgbClr val="39D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828800"/>
            <a:ext cx="2651760" cy="3474720"/>
          </a:xfrm>
          <a:prstGeom prst="rect">
            <a:avLst/>
          </a:prstGeom>
          <a:solidFill>
            <a:srgbClr val="161B22"/>
          </a:solidFill>
          <a:ln w="25400">
            <a:solidFill>
              <a:srgbClr val="39D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920240"/>
            <a:ext cx="2468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39D353"/>
                </a:solidFill>
                <a:latin typeface="Segoe UI"/>
              </a:rPr>
              <a:t>YOU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377440"/>
            <a:ext cx="2468880" cy="27432"/>
          </a:xfrm>
          <a:prstGeom prst="rect">
            <a:avLst/>
          </a:prstGeom>
          <a:solidFill>
            <a:srgbClr val="39D353"/>
          </a:solidFill>
          <a:ln>
            <a:solidFill>
              <a:srgbClr val="39D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2487168"/>
            <a:ext cx="24688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6EDF3"/>
                </a:solidFill>
                <a:latin typeface="Segoe UI"/>
              </a:rPr>
              <a:t>Claude Code (the operator). Conversational interface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46120" y="1828800"/>
            <a:ext cx="2651760" cy="3474720"/>
          </a:xfrm>
          <a:prstGeom prst="rect">
            <a:avLst/>
          </a:prstGeom>
          <a:solidFill>
            <a:srgbClr val="161B22"/>
          </a:solidFill>
          <a:ln w="254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337560" y="1920240"/>
            <a:ext cx="2468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58A6FF"/>
                </a:solidFill>
                <a:latin typeface="Segoe UI"/>
              </a:rPr>
              <a:t>MCP CLIENT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37560" y="2377440"/>
            <a:ext cx="2468880" cy="27432"/>
          </a:xfrm>
          <a:prstGeom prst="rect">
            <a:avLst/>
          </a:prstGeom>
          <a:solidFill>
            <a:srgbClr val="58A6FF"/>
          </a:solidFill>
          <a:ln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337560" y="2487168"/>
            <a:ext cx="24688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6EDF3"/>
                </a:solidFill>
                <a:latin typeface="Segoe UI"/>
              </a:rPr>
              <a:t>JSON-RPC over stdio. Built into Claude Code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1828800"/>
            <a:ext cx="2651760" cy="3474720"/>
          </a:xfrm>
          <a:prstGeom prst="rect">
            <a:avLst/>
          </a:prstGeom>
          <a:solidFill>
            <a:srgbClr val="161B22"/>
          </a:solidFill>
          <a:ln w="25400">
            <a:solidFill>
              <a:srgbClr val="39D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17920" y="1920240"/>
            <a:ext cx="2468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39D353"/>
                </a:solidFill>
                <a:latin typeface="Segoe UI"/>
              </a:rPr>
              <a:t>KALI CONTAINER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2377440"/>
            <a:ext cx="2468880" cy="27432"/>
          </a:xfrm>
          <a:prstGeom prst="rect">
            <a:avLst/>
          </a:prstGeom>
          <a:solidFill>
            <a:srgbClr val="39D353"/>
          </a:solidFill>
          <a:ln>
            <a:solidFill>
              <a:srgbClr val="39D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17920" y="2487168"/>
            <a:ext cx="24688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6EDF3"/>
                </a:solidFill>
                <a:latin typeface="Segoe UI"/>
              </a:rPr>
              <a:t>kali-rt Docker. All tools pre-installed. Persistent loot at /opt/loot/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06840" y="1828800"/>
            <a:ext cx="2651760" cy="3474720"/>
          </a:xfrm>
          <a:prstGeom prst="rect">
            <a:avLst/>
          </a:prstGeom>
          <a:solidFill>
            <a:srgbClr val="161B22"/>
          </a:solidFill>
          <a:ln w="25400">
            <a:solidFill>
              <a:srgbClr val="E3B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098280" y="1920240"/>
            <a:ext cx="2468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E3B341"/>
                </a:solidFill>
                <a:latin typeface="Segoe UI"/>
              </a:rPr>
              <a:t>TARGET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98280" y="2377440"/>
            <a:ext cx="2468880" cy="27432"/>
          </a:xfrm>
          <a:prstGeom prst="rect">
            <a:avLst/>
          </a:prstGeom>
          <a:solidFill>
            <a:srgbClr val="E3B341"/>
          </a:solidFill>
          <a:ln>
            <a:solidFill>
              <a:srgbClr val="E3B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098280" y="2487168"/>
            <a:ext cx="24688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6EDF3"/>
                </a:solidFill>
                <a:latin typeface="Segoe UI"/>
              </a:rPr>
              <a:t>Web App · AD Lab · Cloud Infra · MCP Server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71800" y="3291840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8B949E"/>
                </a:solidFill>
                <a:latin typeface="Segoe UI"/>
              </a:rPr>
              <a:t>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52160" y="3291840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8B949E"/>
                </a:solidFill>
                <a:latin typeface="Segoe UI"/>
              </a:rPr>
              <a:t>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32520" y="3291840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8B949E"/>
                </a:solidFill>
                <a:latin typeface="Segoe UI"/>
              </a:rPr>
              <a:t>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532120"/>
            <a:ext cx="11274552" cy="1005840"/>
          </a:xfrm>
          <a:prstGeom prst="rect">
            <a:avLst/>
          </a:prstGeom>
          <a:solidFill>
            <a:srgbClr val="0A120A"/>
          </a:solidFill>
          <a:ln w="12700">
            <a:solidFill>
              <a:srgbClr val="39D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0080" y="5596128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9D353"/>
                </a:solidFill>
                <a:latin typeface="Segoe UI"/>
              </a:rPr>
              <a:t>MCP Tools on kali-redteam server: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92531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6EDF3"/>
                </a:solidFill>
                <a:latin typeface="Consolas"/>
              </a:rPr>
              <a:t>run_shell  ·  read_file  ·  write_file  ·  save_note  ·  get_notes  ·  export_notes
bloodhound_query  ·  crack_hint  ·  port_check  ·  get_kali_info  ·  list_dir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4864"/>
            <a:ext cx="12188952" cy="50292"/>
          </a:xfrm>
          <a:prstGeom prst="rect">
            <a:avLst/>
          </a:prstGeom>
          <a:solidFill>
            <a:srgbClr val="39D353"/>
          </a:solidFill>
          <a:ln>
            <a:solidFill>
              <a:srgbClr val="39D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3400" b="1" dirty="0">
                <a:solidFill>
                  <a:srgbClr val="E6EDF3"/>
                </a:solidFill>
                <a:latin typeface="Segoe UI"/>
              </a:rPr>
              <a:t>AD / Red Team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8B949E"/>
                </a:solidFill>
                <a:latin typeface="Segoe UI"/>
              </a:rPr>
              <a:t>Forward-chaining rule engine + BloodHound graph — full 8-phase AD attack chain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53312"/>
            <a:ext cx="11274552" cy="36576"/>
          </a:xfrm>
          <a:prstGeom prst="rect">
            <a:avLst/>
          </a:prstGeom>
          <a:solidFill>
            <a:srgbClr val="39D353"/>
          </a:solidFill>
          <a:ln>
            <a:solidFill>
              <a:srgbClr val="39D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Card6"/>
          <p:cNvSpPr/>
          <p:nvPr/>
        </p:nvSpPr>
        <p:spPr>
          <a:xfrm>
            <a:off x="365760" y="1600200"/>
            <a:ext cx="3611880" cy="2148840"/>
          </a:xfrm>
          <a:prstGeom prst="rect">
            <a:avLst/>
          </a:prstGeom>
          <a:solidFill>
            <a:srgbClr val="161B22"/>
          </a:solidFill>
          <a:ln w="25400">
            <a:solidFill>
              <a:srgbClr val="39D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Label7"/>
          <p:cNvSpPr txBox="1"/>
          <p:nvPr/>
        </p:nvSpPr>
        <p:spPr>
          <a:xfrm>
            <a:off x="475488" y="169164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9D353"/>
                </a:solidFill>
                <a:latin typeface="Segoe UI"/>
              </a:rPr>
              <a:t>Rule Engine</a:t>
            </a:r>
          </a:p>
        </p:txBody>
      </p:sp>
      <p:sp>
        <p:nvSpPr>
          <p:cNvPr id="8" name="Underline8"/>
          <p:cNvSpPr/>
          <p:nvPr/>
        </p:nvSpPr>
        <p:spPr>
          <a:xfrm>
            <a:off x="457200" y="2075688"/>
            <a:ext cx="3429000" cy="27432"/>
          </a:xfrm>
          <a:prstGeom prst="rect">
            <a:avLst/>
          </a:prstGeom>
          <a:solidFill>
            <a:srgbClr val="39D353"/>
          </a:solidFill>
          <a:ln>
            <a:solidFill>
              <a:srgbClr val="39D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Body9"/>
          <p:cNvSpPr txBox="1"/>
          <p:nvPr/>
        </p:nvSpPr>
        <p:spPr>
          <a:xfrm>
            <a:off x="475488" y="2194560"/>
            <a:ext cx="34290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6EDF3"/>
                </a:solidFill>
                <a:latin typeface="Consolas"/>
              </a:rPr>
              <a:t>ad_agent/ — 6 rule files
Forward-chaining logic
drives 8-phase AD chain</a:t>
            </a:r>
          </a:p>
        </p:txBody>
      </p:sp>
      <p:sp>
        <p:nvSpPr>
          <p:cNvPr id="10" name="Card10"/>
          <p:cNvSpPr/>
          <p:nvPr/>
        </p:nvSpPr>
        <p:spPr>
          <a:xfrm>
            <a:off x="4206240" y="1600200"/>
            <a:ext cx="3611880" cy="2148840"/>
          </a:xfrm>
          <a:prstGeom prst="rect">
            <a:avLst/>
          </a:prstGeom>
          <a:solidFill>
            <a:srgbClr val="161B22"/>
          </a:solidFill>
          <a:ln w="254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Label11"/>
          <p:cNvSpPr txBox="1"/>
          <p:nvPr/>
        </p:nvSpPr>
        <p:spPr>
          <a:xfrm>
            <a:off x="4315968" y="169164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58A6FF"/>
                </a:solidFill>
                <a:latin typeface="Segoe UI"/>
              </a:rPr>
              <a:t>Graph Backend</a:t>
            </a:r>
          </a:p>
        </p:txBody>
      </p:sp>
      <p:sp>
        <p:nvSpPr>
          <p:cNvPr id="12" name="Underline12"/>
          <p:cNvSpPr/>
          <p:nvPr/>
        </p:nvSpPr>
        <p:spPr>
          <a:xfrm>
            <a:off x="4297680" y="2075688"/>
            <a:ext cx="3429000" cy="27432"/>
          </a:xfrm>
          <a:prstGeom prst="rect">
            <a:avLst/>
          </a:prstGeom>
          <a:solidFill>
            <a:srgbClr val="58A6FF"/>
          </a:solidFill>
          <a:ln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Body13"/>
          <p:cNvSpPr txBox="1"/>
          <p:nvPr/>
        </p:nvSpPr>
        <p:spPr>
          <a:xfrm>
            <a:off x="4315968" y="2194560"/>
            <a:ext cx="34290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6EDF3"/>
                </a:solidFill>
                <a:latin typeface="Consolas"/>
              </a:rPr>
              <a:t>Neo4j + BloodHound
bloodhound_query tool
10 built-in Cypher shortcuts</a:t>
            </a:r>
          </a:p>
        </p:txBody>
      </p:sp>
      <p:sp>
        <p:nvSpPr>
          <p:cNvPr id="14" name="Card14"/>
          <p:cNvSpPr/>
          <p:nvPr/>
        </p:nvSpPr>
        <p:spPr>
          <a:xfrm>
            <a:off x="8046720" y="1600200"/>
            <a:ext cx="3611880" cy="2148840"/>
          </a:xfrm>
          <a:prstGeom prst="rect">
            <a:avLst/>
          </a:prstGeom>
          <a:solidFill>
            <a:srgbClr val="161B22"/>
          </a:solidFill>
          <a:ln w="25400">
            <a:solidFill>
              <a:srgbClr val="D29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Label15"/>
          <p:cNvSpPr txBox="1"/>
          <p:nvPr/>
        </p:nvSpPr>
        <p:spPr>
          <a:xfrm>
            <a:off x="8156448" y="169164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29922"/>
                </a:solidFill>
                <a:latin typeface="Segoe UI"/>
              </a:rPr>
              <a:t>ADCS Abuse</a:t>
            </a:r>
          </a:p>
        </p:txBody>
      </p:sp>
      <p:sp>
        <p:nvSpPr>
          <p:cNvPr id="16" name="Underline16"/>
          <p:cNvSpPr/>
          <p:nvPr/>
        </p:nvSpPr>
        <p:spPr>
          <a:xfrm>
            <a:off x="8138160" y="2075688"/>
            <a:ext cx="3429000" cy="27432"/>
          </a:xfrm>
          <a:prstGeom prst="rect">
            <a:avLst/>
          </a:prstGeom>
          <a:solidFill>
            <a:srgbClr val="D29922"/>
          </a:solidFill>
          <a:ln>
            <a:solidFill>
              <a:srgbClr val="D29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Body17"/>
          <p:cNvSpPr txBox="1"/>
          <p:nvPr/>
        </p:nvSpPr>
        <p:spPr>
          <a:xfrm>
            <a:off x="8156448" y="2194560"/>
            <a:ext cx="34290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6EDF3"/>
                </a:solidFill>
                <a:latin typeface="Consolas"/>
              </a:rPr>
              <a:t>certipy-ad integration
ESC1 – ESC8 template
and template abuse paths</a:t>
            </a:r>
          </a:p>
        </p:txBody>
      </p:sp>
      <p:sp>
        <p:nvSpPr>
          <p:cNvPr id="18" name="Card18"/>
          <p:cNvSpPr/>
          <p:nvPr/>
        </p:nvSpPr>
        <p:spPr>
          <a:xfrm>
            <a:off x="365760" y="3977639"/>
            <a:ext cx="3611880" cy="2148840"/>
          </a:xfrm>
          <a:prstGeom prst="rect">
            <a:avLst/>
          </a:prstGeom>
          <a:solidFill>
            <a:srgbClr val="161B22"/>
          </a:solidFill>
          <a:ln w="2540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Label19"/>
          <p:cNvSpPr txBox="1"/>
          <p:nvPr/>
        </p:nvSpPr>
        <p:spPr>
          <a:xfrm>
            <a:off x="475488" y="4069079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85149"/>
                </a:solidFill>
                <a:latin typeface="Segoe UI"/>
              </a:rPr>
              <a:t>Credential Ops</a:t>
            </a:r>
          </a:p>
        </p:txBody>
      </p:sp>
      <p:sp>
        <p:nvSpPr>
          <p:cNvPr id="20" name="Underline20"/>
          <p:cNvSpPr/>
          <p:nvPr/>
        </p:nvSpPr>
        <p:spPr>
          <a:xfrm>
            <a:off x="457200" y="4453127"/>
            <a:ext cx="3429000" cy="27432"/>
          </a:xfrm>
          <a:prstGeom prst="rect">
            <a:avLst/>
          </a:prstGeom>
          <a:solidFill>
            <a:srgbClr val="F85149"/>
          </a:solidFill>
          <a:ln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Body21"/>
          <p:cNvSpPr txBox="1"/>
          <p:nvPr/>
        </p:nvSpPr>
        <p:spPr>
          <a:xfrm>
            <a:off x="475488" y="4572000"/>
            <a:ext cx="34290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6EDF3"/>
                </a:solidFill>
                <a:latin typeface="Consolas"/>
              </a:rPr>
              <a:t>crack_hint tool
Hash ID → hashcat mode
→ exact command, auto</a:t>
            </a:r>
          </a:p>
        </p:txBody>
      </p:sp>
      <p:sp>
        <p:nvSpPr>
          <p:cNvPr id="22" name="Card22"/>
          <p:cNvSpPr/>
          <p:nvPr/>
        </p:nvSpPr>
        <p:spPr>
          <a:xfrm>
            <a:off x="4206240" y="3977639"/>
            <a:ext cx="3611880" cy="2148840"/>
          </a:xfrm>
          <a:prstGeom prst="rect">
            <a:avLst/>
          </a:prstGeom>
          <a:solidFill>
            <a:srgbClr val="161B22"/>
          </a:solidFill>
          <a:ln w="254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Label23"/>
          <p:cNvSpPr txBox="1"/>
          <p:nvPr/>
        </p:nvSpPr>
        <p:spPr>
          <a:xfrm>
            <a:off x="4315968" y="4069079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58A6FF"/>
                </a:solidFill>
                <a:latin typeface="Segoe UI"/>
              </a:rPr>
              <a:t>Pivoting</a:t>
            </a:r>
          </a:p>
        </p:txBody>
      </p:sp>
      <p:sp>
        <p:nvSpPr>
          <p:cNvPr id="24" name="Underline24"/>
          <p:cNvSpPr/>
          <p:nvPr/>
        </p:nvSpPr>
        <p:spPr>
          <a:xfrm>
            <a:off x="4297680" y="4453127"/>
            <a:ext cx="3429000" cy="27432"/>
          </a:xfrm>
          <a:prstGeom prst="rect">
            <a:avLst/>
          </a:prstGeom>
          <a:solidFill>
            <a:srgbClr val="58A6FF"/>
          </a:solidFill>
          <a:ln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Body25"/>
          <p:cNvSpPr txBox="1"/>
          <p:nvPr/>
        </p:nvSpPr>
        <p:spPr>
          <a:xfrm>
            <a:off x="4315968" y="4572000"/>
            <a:ext cx="34290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6EDF3"/>
                </a:solidFill>
                <a:latin typeface="Consolas"/>
              </a:rPr>
              <a:t>ligolo-ng · chisel · socat
Tunnel + proxy through
compromised hosts</a:t>
            </a:r>
          </a:p>
        </p:txBody>
      </p:sp>
      <p:sp>
        <p:nvSpPr>
          <p:cNvPr id="26" name="Card26"/>
          <p:cNvSpPr/>
          <p:nvPr/>
        </p:nvSpPr>
        <p:spPr>
          <a:xfrm>
            <a:off x="8046720" y="3977639"/>
            <a:ext cx="3611880" cy="2148840"/>
          </a:xfrm>
          <a:prstGeom prst="rect">
            <a:avLst/>
          </a:prstGeom>
          <a:solidFill>
            <a:srgbClr val="161B22"/>
          </a:solidFill>
          <a:ln w="25400">
            <a:solidFill>
              <a:srgbClr val="8B94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Label27"/>
          <p:cNvSpPr txBox="1"/>
          <p:nvPr/>
        </p:nvSpPr>
        <p:spPr>
          <a:xfrm>
            <a:off x="8156448" y="4069079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B949E"/>
                </a:solidFill>
                <a:latin typeface="Segoe UI"/>
              </a:rPr>
              <a:t>Persistent Loot</a:t>
            </a:r>
          </a:p>
        </p:txBody>
      </p:sp>
      <p:sp>
        <p:nvSpPr>
          <p:cNvPr id="28" name="Underline28"/>
          <p:cNvSpPr/>
          <p:nvPr/>
        </p:nvSpPr>
        <p:spPr>
          <a:xfrm>
            <a:off x="8138160" y="4453127"/>
            <a:ext cx="3429000" cy="27432"/>
          </a:xfrm>
          <a:prstGeom prst="rect">
            <a:avLst/>
          </a:prstGeom>
          <a:solidFill>
            <a:srgbClr val="8B949E"/>
          </a:solidFill>
          <a:ln>
            <a:solidFill>
              <a:srgbClr val="8B94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Body29"/>
          <p:cNvSpPr txBox="1"/>
          <p:nvPr/>
        </p:nvSpPr>
        <p:spPr>
          <a:xfrm>
            <a:off x="8156448" y="4572000"/>
            <a:ext cx="34290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6EDF3"/>
                </a:solidFill>
                <a:latin typeface="Consolas"/>
              </a:rPr>
              <a:t>notes.jsonl + export
Survives context resets
across session restarts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4864"/>
            <a:ext cx="12188952" cy="50292"/>
          </a:xfrm>
          <a:prstGeom prst="rect">
            <a:avLst/>
          </a:prstGeom>
          <a:solidFill>
            <a:srgbClr val="39D353"/>
          </a:solidFill>
          <a:ln>
            <a:solidFill>
              <a:srgbClr val="39D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3400" b="1" dirty="0">
                <a:solidFill>
                  <a:srgbClr val="E6EDF3"/>
                </a:solidFill>
                <a:latin typeface="Segoe UI"/>
              </a:rPr>
              <a:t>TOOL STACK</a:t>
            </a:r>
            <a:endParaRPr sz="3400" b="1" dirty="0">
              <a:solidFill>
                <a:srgbClr val="E6EDF3"/>
              </a:solidFill>
              <a:latin typeface="Segoe U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8B949E"/>
                </a:solidFill>
                <a:latin typeface="Segoe UI"/>
              </a:rPr>
              <a:t>Everything pre-installed, no setup needed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53312"/>
            <a:ext cx="11274552" cy="36576"/>
          </a:xfrm>
          <a:prstGeom prst="rect">
            <a:avLst/>
          </a:prstGeom>
          <a:solidFill>
            <a:srgbClr val="39D353"/>
          </a:solidFill>
          <a:ln>
            <a:solidFill>
              <a:srgbClr val="39D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600200"/>
            <a:ext cx="3611880" cy="2148840"/>
          </a:xfrm>
          <a:prstGeom prst="rect">
            <a:avLst/>
          </a:prstGeom>
          <a:solidFill>
            <a:srgbClr val="161B22"/>
          </a:solidFill>
          <a:ln w="25400">
            <a:solidFill>
              <a:srgbClr val="39D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75488" y="169164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9D353"/>
                </a:solidFill>
                <a:latin typeface="Segoe UI"/>
              </a:rPr>
              <a:t>AD / Kerberos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075688"/>
            <a:ext cx="3429000" cy="27432"/>
          </a:xfrm>
          <a:prstGeom prst="rect">
            <a:avLst/>
          </a:prstGeom>
          <a:solidFill>
            <a:srgbClr val="39D353"/>
          </a:solidFill>
          <a:ln>
            <a:solidFill>
              <a:srgbClr val="39D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75488" y="2194560"/>
            <a:ext cx="34290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6EDF3"/>
                </a:solidFill>
                <a:latin typeface="Consolas"/>
              </a:rPr>
              <a:t>impacket-*  netexec  evil-winrm
smbmap  enum4linux-ng  kerbrute
certipy-ad  bloodyAD  pywhisker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40" y="1600200"/>
            <a:ext cx="3611880" cy="2148840"/>
          </a:xfrm>
          <a:prstGeom prst="rect">
            <a:avLst/>
          </a:prstGeom>
          <a:solidFill>
            <a:srgbClr val="161B22"/>
          </a:solidFill>
          <a:ln w="254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15968" y="169164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58A6FF"/>
                </a:solidFill>
                <a:latin typeface="Segoe UI"/>
              </a:rPr>
              <a:t>Scanning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2075688"/>
            <a:ext cx="3429000" cy="27432"/>
          </a:xfrm>
          <a:prstGeom prst="rect">
            <a:avLst/>
          </a:prstGeom>
          <a:solidFill>
            <a:srgbClr val="58A6FF"/>
          </a:solidFill>
          <a:ln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15968" y="2194560"/>
            <a:ext cx="34290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6EDF3"/>
                </a:solidFill>
                <a:latin typeface="Consolas"/>
              </a:rPr>
              <a:t>nmap  masscan  whatweb
wafw00f  dnsrecon  nikto
ffuf  gobuster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20" y="1600200"/>
            <a:ext cx="3611880" cy="2148840"/>
          </a:xfrm>
          <a:prstGeom prst="rect">
            <a:avLst/>
          </a:prstGeom>
          <a:solidFill>
            <a:srgbClr val="161B22"/>
          </a:solidFill>
          <a:ln w="25400">
            <a:solidFill>
              <a:srgbClr val="E3B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56448" y="169164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3B341"/>
                </a:solidFill>
                <a:latin typeface="Segoe UI"/>
              </a:rPr>
              <a:t>Pivoting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8160" y="2075688"/>
            <a:ext cx="3429000" cy="27432"/>
          </a:xfrm>
          <a:prstGeom prst="rect">
            <a:avLst/>
          </a:prstGeom>
          <a:solidFill>
            <a:srgbClr val="E3B341"/>
          </a:solidFill>
          <a:ln>
            <a:solidFill>
              <a:srgbClr val="E3B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56448" y="2194560"/>
            <a:ext cx="34290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6EDF3"/>
                </a:solidFill>
                <a:latin typeface="Consolas"/>
              </a:rPr>
              <a:t>ligolo-ng (proxy + agent)
chisel  socat  netcat
socks4.py (Paramiko)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977639"/>
            <a:ext cx="3611880" cy="2148840"/>
          </a:xfrm>
          <a:prstGeom prst="rect">
            <a:avLst/>
          </a:prstGeom>
          <a:solidFill>
            <a:srgbClr val="161B22"/>
          </a:solidFill>
          <a:ln w="25400">
            <a:solidFill>
              <a:srgbClr val="FF7B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75488" y="4069079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7B72"/>
                </a:solidFill>
                <a:latin typeface="Segoe UI"/>
              </a:rPr>
              <a:t>Password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453127"/>
            <a:ext cx="3429000" cy="27432"/>
          </a:xfrm>
          <a:prstGeom prst="rect">
            <a:avLst/>
          </a:prstGeom>
          <a:solidFill>
            <a:srgbClr val="FF7B72"/>
          </a:solidFill>
          <a:ln>
            <a:solidFill>
              <a:srgbClr val="FF7B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75488" y="4572000"/>
            <a:ext cx="34290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6EDF3"/>
                </a:solidFill>
                <a:latin typeface="Consolas"/>
              </a:rPr>
              <a:t>hashcat  hydra
rockyou.txt + custom lists
crack_hint → suggests mode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06240" y="3977639"/>
            <a:ext cx="3611880" cy="2148840"/>
          </a:xfrm>
          <a:prstGeom prst="rect">
            <a:avLst/>
          </a:prstGeom>
          <a:solidFill>
            <a:srgbClr val="161B22"/>
          </a:solidFill>
          <a:ln w="254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315968" y="4069079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58A6FF"/>
                </a:solidFill>
                <a:latin typeface="Segoe UI"/>
              </a:rPr>
              <a:t>Bug Bounty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97680" y="4453127"/>
            <a:ext cx="3429000" cy="27432"/>
          </a:xfrm>
          <a:prstGeom prst="rect">
            <a:avLst/>
          </a:prstGeom>
          <a:solidFill>
            <a:srgbClr val="58A6FF"/>
          </a:solidFill>
          <a:ln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315968" y="4572000"/>
            <a:ext cx="34290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6EDF3"/>
                </a:solidFill>
                <a:latin typeface="Consolas"/>
              </a:rPr>
              <a:t>subfinder  httpx  nuclei
waybackurls  gau  anew
bb_recon.sh pipeline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46720" y="3977639"/>
            <a:ext cx="3611880" cy="2148840"/>
          </a:xfrm>
          <a:prstGeom prst="rect">
            <a:avLst/>
          </a:prstGeom>
          <a:solidFill>
            <a:srgbClr val="161B22"/>
          </a:solidFill>
          <a:ln w="25400">
            <a:solidFill>
              <a:srgbClr val="8B94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156448" y="4069079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B949E"/>
                </a:solidFill>
                <a:latin typeface="Segoe UI"/>
              </a:rPr>
              <a:t>SAST / Secrets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38160" y="4453127"/>
            <a:ext cx="3429000" cy="27432"/>
          </a:xfrm>
          <a:prstGeom prst="rect">
            <a:avLst/>
          </a:prstGeom>
          <a:solidFill>
            <a:srgbClr val="8B949E"/>
          </a:solidFill>
          <a:ln>
            <a:solidFill>
              <a:srgbClr val="8B94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156448" y="4572000"/>
            <a:ext cx="34290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6EDF3"/>
                </a:solidFill>
                <a:latin typeface="Consolas"/>
              </a:rPr>
              <a:t>semgrep  trivy  checkov
gitleaks  snyk
security_scan.sh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4864"/>
            <a:ext cx="12188952" cy="50292"/>
          </a:xfrm>
          <a:prstGeom prst="rect">
            <a:avLst/>
          </a:prstGeom>
          <a:solidFill>
            <a:srgbClr val="58A6FF"/>
          </a:solidFill>
          <a:ln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dirty="0" err="1">
                <a:solidFill>
                  <a:srgbClr val="E6EDF3"/>
                </a:solidFill>
                <a:latin typeface="Segoe UI"/>
              </a:rPr>
              <a:t>pentest</a:t>
            </a:r>
            <a:r>
              <a:rPr sz="3400" b="1" dirty="0">
                <a:solidFill>
                  <a:srgbClr val="E6EDF3"/>
                </a:solidFill>
                <a:latin typeface="Segoe UI"/>
              </a:rPr>
              <a:t>-kb —Attack Skills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8B949E"/>
                </a:solidFill>
                <a:latin typeface="Segoe UI"/>
              </a:rPr>
              <a:t>Knowledge base + guided attack steps per vulnerability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53312"/>
            <a:ext cx="11274552" cy="36576"/>
          </a:xfrm>
          <a:prstGeom prst="rect">
            <a:avLst/>
          </a:prstGeom>
          <a:solidFill>
            <a:srgbClr val="58A6FF"/>
          </a:solidFill>
          <a:ln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48132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B949E"/>
                </a:solidFill>
                <a:latin typeface="Segoe UI"/>
              </a:rPr>
              <a:t>How it works: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9D353"/>
                </a:solidFill>
                <a:latin typeface="Consolas"/>
              </a:rPr>
              <a:t>list_skills → select_skills → get_attack_context → execute → log_finding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331720"/>
            <a:ext cx="1810512" cy="475488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38912" y="2423160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8A6FF"/>
                </a:solidFill>
                <a:latin typeface="Consolas"/>
              </a:rPr>
              <a:t>auth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0" y="2331720"/>
            <a:ext cx="1810512" cy="475488"/>
          </a:xfrm>
          <a:prstGeom prst="rect">
            <a:avLst/>
          </a:prstGeom>
          <a:solidFill>
            <a:srgbClr val="0A140A"/>
          </a:solidFill>
          <a:ln w="12700">
            <a:solidFill>
              <a:srgbClr val="39D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359152" y="2423160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9D353"/>
                </a:solidFill>
                <a:latin typeface="Consolas"/>
              </a:rPr>
              <a:t>sqli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06240" y="2331720"/>
            <a:ext cx="1810512" cy="475488"/>
          </a:xfrm>
          <a:prstGeom prst="rect">
            <a:avLst/>
          </a:prstGeom>
          <a:solidFill>
            <a:srgbClr val="0A140A"/>
          </a:solidFill>
          <a:ln w="12700">
            <a:solidFill>
              <a:srgbClr val="39D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279392" y="2423160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9D353"/>
                </a:solidFill>
                <a:latin typeface="Consolas"/>
              </a:rPr>
              <a:t>xss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79" y="2331720"/>
            <a:ext cx="1810512" cy="475488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199631" y="2423160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8A6FF"/>
                </a:solidFill>
                <a:latin typeface="Consolas"/>
              </a:rPr>
              <a:t>jwt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19" y="2331720"/>
            <a:ext cx="1810512" cy="475488"/>
          </a:xfrm>
          <a:prstGeom prst="rect">
            <a:avLst/>
          </a:prstGeom>
          <a:solidFill>
            <a:srgbClr val="0A140A"/>
          </a:solidFill>
          <a:ln w="12700">
            <a:solidFill>
              <a:srgbClr val="39D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19871" y="2423160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9D353"/>
                </a:solidFill>
                <a:latin typeface="Consolas"/>
              </a:rPr>
              <a:t>ssrf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966959" y="2331720"/>
            <a:ext cx="1810512" cy="475488"/>
          </a:xfrm>
          <a:prstGeom prst="rect">
            <a:avLst/>
          </a:prstGeom>
          <a:solidFill>
            <a:srgbClr val="0A140A"/>
          </a:solidFill>
          <a:ln w="12700">
            <a:solidFill>
              <a:srgbClr val="39D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040111" y="2423160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9D353"/>
                </a:solidFill>
                <a:latin typeface="Consolas"/>
              </a:rPr>
              <a:t>idor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2898648"/>
            <a:ext cx="1810512" cy="475488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38912" y="2990088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8A6FF"/>
                </a:solidFill>
                <a:latin typeface="Consolas"/>
              </a:rPr>
              <a:t>csrf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86000" y="2898648"/>
            <a:ext cx="1810512" cy="475488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359152" y="2990088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8A6FF"/>
                </a:solidFill>
                <a:latin typeface="Consolas"/>
              </a:rPr>
              <a:t>file-upload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06240" y="2898648"/>
            <a:ext cx="1810512" cy="475488"/>
          </a:xfrm>
          <a:prstGeom prst="rect">
            <a:avLst/>
          </a:prstGeom>
          <a:solidFill>
            <a:srgbClr val="0A140A"/>
          </a:solidFill>
          <a:ln w="12700">
            <a:solidFill>
              <a:srgbClr val="39D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279392" y="2990088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9D353"/>
                </a:solidFill>
                <a:latin typeface="Consolas"/>
              </a:rPr>
              <a:t>command-injection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26479" y="2898648"/>
            <a:ext cx="1810512" cy="475488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199631" y="2990088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8A6FF"/>
                </a:solidFill>
                <a:latin typeface="Consolas"/>
              </a:rPr>
              <a:t>path-traversal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46719" y="2898648"/>
            <a:ext cx="1810512" cy="475488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119871" y="2990088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8A6FF"/>
                </a:solidFill>
                <a:latin typeface="Consolas"/>
              </a:rPr>
              <a:t>deserialization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966959" y="2898648"/>
            <a:ext cx="1810512" cy="475488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040111" y="2990088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8A6FF"/>
                </a:solidFill>
                <a:latin typeface="Consolas"/>
              </a:rPr>
              <a:t>xxe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3465576"/>
            <a:ext cx="1810512" cy="475488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38912" y="3557016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8A6FF"/>
                </a:solidFill>
                <a:latin typeface="Consolas"/>
              </a:rPr>
              <a:t>ssti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286000" y="3465576"/>
            <a:ext cx="1810512" cy="475488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2359152" y="3557016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8A6FF"/>
                </a:solidFill>
                <a:latin typeface="Consolas"/>
              </a:rPr>
              <a:t>nosql-injection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206240" y="3465576"/>
            <a:ext cx="1810512" cy="475488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279392" y="3557016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8A6FF"/>
                </a:solidFill>
                <a:latin typeface="Consolas"/>
              </a:rPr>
              <a:t>graphql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26479" y="3465576"/>
            <a:ext cx="1810512" cy="475488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199631" y="3557016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8A6FF"/>
                </a:solidFill>
                <a:latin typeface="Consolas"/>
              </a:rPr>
              <a:t>oauth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046719" y="3465576"/>
            <a:ext cx="1810512" cy="475488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119871" y="3557016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8A6FF"/>
                </a:solidFill>
                <a:latin typeface="Consolas"/>
              </a:rPr>
              <a:t>mass-assignment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966959" y="3465576"/>
            <a:ext cx="1810512" cy="475488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0040111" y="3557016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8A6FF"/>
                </a:solidFill>
                <a:latin typeface="Consolas"/>
              </a:rPr>
              <a:t>prototype-pollution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5760" y="4032504"/>
            <a:ext cx="1810512" cy="475488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38912" y="4123944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8A6FF"/>
                </a:solidFill>
                <a:latin typeface="Consolas"/>
              </a:rPr>
              <a:t>race-condition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286000" y="4032504"/>
            <a:ext cx="1810512" cy="475488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2359152" y="4123944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8A6FF"/>
                </a:solidFill>
                <a:latin typeface="Consolas"/>
              </a:rPr>
              <a:t>subdomain-takeover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206240" y="4032504"/>
            <a:ext cx="1810512" cy="475488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279392" y="4123944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8A6FF"/>
                </a:solidFill>
                <a:latin typeface="Consolas"/>
              </a:rPr>
              <a:t>open-redirect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26479" y="4032504"/>
            <a:ext cx="1810512" cy="475488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199631" y="4123944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8A6FF"/>
                </a:solidFill>
                <a:latin typeface="Consolas"/>
              </a:rPr>
              <a:t>cloud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046719" y="4032504"/>
            <a:ext cx="1810512" cy="475488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8119871" y="4123944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8A6FF"/>
                </a:solidFill>
                <a:latin typeface="Consolas"/>
              </a:rPr>
              <a:t>container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966959" y="4032504"/>
            <a:ext cx="1810512" cy="475488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10040111" y="4123944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8A6FF"/>
                </a:solidFill>
                <a:latin typeface="Consolas"/>
              </a:rPr>
              <a:t>cors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48640" y="4800600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6EDF3"/>
                </a:solidFill>
                <a:latin typeface="Segoe UI"/>
              </a:rPr>
              <a:t>Each skill contains: recon steps · exploitation payloads · PoC commands · remediation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57200" y="5212000"/>
            <a:ext cx="11274552" cy="1371600"/>
          </a:xfrm>
          <a:prstGeom prst="rect">
            <a:avLst/>
          </a:prstGeom>
          <a:solidFill>
            <a:srgbClr val="010710"/>
          </a:solidFill>
          <a:ln w="12700">
            <a:solidFill>
              <a:srgbClr val="39D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594360" y="5258000"/>
            <a:ext cx="11000232" cy="1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39D353"/>
                </a:solidFill>
                <a:latin typeface="Consolas"/>
              </a:rPr>
              <a:t># Example usage in Claude Code
list_skills
&gt; sqli, xss, idor, ssrf, oauth ...
select_skills idor ssrf
get_attack_context idor
&gt; returns: test cases, curl commands, burp payloads, common bypasses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4864"/>
            <a:ext cx="12188952" cy="50292"/>
          </a:xfrm>
          <a:prstGeom prst="rect">
            <a:avLst/>
          </a:prstGeom>
          <a:solidFill>
            <a:srgbClr val="E3B341"/>
          </a:solidFill>
          <a:ln>
            <a:solidFill>
              <a:srgbClr val="E3B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E6EDF3"/>
                </a:solidFill>
                <a:latin typeface="Segoe UI"/>
              </a:rPr>
              <a:t>MCPTROTTER — MCP Pentest Tool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8B949E"/>
                </a:solidFill>
                <a:latin typeface="Segoe UI"/>
              </a:rPr>
              <a:t>pip install mcppt  ·  v3.0.0  ·  Published on PyPI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53312"/>
            <a:ext cx="11274552" cy="36576"/>
          </a:xfrm>
          <a:prstGeom prst="rect">
            <a:avLst/>
          </a:prstGeom>
          <a:solidFill>
            <a:srgbClr val="E3B341"/>
          </a:solidFill>
          <a:ln>
            <a:solidFill>
              <a:srgbClr val="E3B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6EDF3"/>
                </a:solidFill>
                <a:latin typeface="Segoe UI"/>
              </a:rPr>
              <a:t>Automated security scanner for MCP servers — 28 checks covering OWASP MCP Top 10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920240"/>
            <a:ext cx="3657600" cy="548640"/>
          </a:xfrm>
          <a:prstGeom prst="rect">
            <a:avLst/>
          </a:prstGeom>
          <a:solidFill>
            <a:srgbClr val="161B22"/>
          </a:solidFill>
          <a:ln w="12700">
            <a:solidFill>
              <a:srgbClr val="E3B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75488" y="1993392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3B341"/>
                </a:solidFill>
                <a:latin typeface="Consolas"/>
              </a:rPr>
              <a:t>enum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48840" y="2011680"/>
            <a:ext cx="1783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949E"/>
                </a:solidFill>
                <a:latin typeface="Segoe UI"/>
              </a:rPr>
              <a:t>Discover tools without auth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51960" y="1920240"/>
            <a:ext cx="3657600" cy="548640"/>
          </a:xfrm>
          <a:prstGeom prst="rect">
            <a:avLst/>
          </a:prstGeom>
          <a:solidFill>
            <a:srgbClr val="161B22"/>
          </a:solidFill>
          <a:ln w="12700">
            <a:solidFill>
              <a:srgbClr val="E3B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61688" y="1993392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3B341"/>
                </a:solidFill>
                <a:latin typeface="Consolas"/>
              </a:rPr>
              <a:t>auth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0" y="2011680"/>
            <a:ext cx="1783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949E"/>
                </a:solidFill>
                <a:latin typeface="Segoe UI"/>
              </a:rPr>
              <a:t>Tool calls with no/invalid token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1920240"/>
            <a:ext cx="3657600" cy="548640"/>
          </a:xfrm>
          <a:prstGeom prst="rect">
            <a:avLst/>
          </a:prstGeom>
          <a:solidFill>
            <a:srgbClr val="161B22"/>
          </a:solidFill>
          <a:ln w="12700">
            <a:solidFill>
              <a:srgbClr val="FF7B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47888" y="1993392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7B72"/>
                </a:solidFill>
                <a:latin typeface="Consolas"/>
              </a:rPr>
              <a:t>idor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21240" y="2011680"/>
            <a:ext cx="1783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949E"/>
                </a:solidFill>
                <a:latin typeface="Segoe UI"/>
              </a:rPr>
              <a:t>Cross-user resource access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542032"/>
            <a:ext cx="3657600" cy="548640"/>
          </a:xfrm>
          <a:prstGeom prst="rect">
            <a:avLst/>
          </a:prstGeom>
          <a:solidFill>
            <a:srgbClr val="161B22"/>
          </a:solidFill>
          <a:ln w="12700">
            <a:solidFill>
              <a:srgbClr val="FF7B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75488" y="2615184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7B72"/>
                </a:solidFill>
                <a:latin typeface="Consolas"/>
              </a:rPr>
              <a:t>injection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48840" y="2633472"/>
            <a:ext cx="1783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949E"/>
                </a:solidFill>
                <a:latin typeface="Segoe UI"/>
              </a:rPr>
              <a:t>Prompt injection in params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51960" y="2542032"/>
            <a:ext cx="3657600" cy="548640"/>
          </a:xfrm>
          <a:prstGeom prst="rect">
            <a:avLst/>
          </a:prstGeom>
          <a:solidFill>
            <a:srgbClr val="161B22"/>
          </a:solidFill>
          <a:ln w="12700">
            <a:solidFill>
              <a:srgbClr val="FF7B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361688" y="2615184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7B72"/>
                </a:solidFill>
                <a:latin typeface="Consolas"/>
              </a:rPr>
              <a:t>ssrf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40" y="2633472"/>
            <a:ext cx="1783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949E"/>
                </a:solidFill>
                <a:latin typeface="Segoe UI"/>
              </a:rPr>
              <a:t>Cloud metadata via url params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38160" y="2542032"/>
            <a:ext cx="3657600" cy="548640"/>
          </a:xfrm>
          <a:prstGeom prst="rect">
            <a:avLst/>
          </a:prstGeom>
          <a:solidFill>
            <a:srgbClr val="161B22"/>
          </a:solidFill>
          <a:ln w="12700">
            <a:solidFill>
              <a:srgbClr val="E3B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47888" y="2615184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3B341"/>
                </a:solidFill>
                <a:latin typeface="Consolas"/>
              </a:rPr>
              <a:t>replay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21240" y="2633472"/>
            <a:ext cx="1783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949E"/>
                </a:solidFill>
                <a:latin typeface="Segoe UI"/>
              </a:rPr>
              <a:t>Replay tool calls without nonces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3163824"/>
            <a:ext cx="3657600" cy="548640"/>
          </a:xfrm>
          <a:prstGeom prst="rect">
            <a:avLst/>
          </a:prstGeom>
          <a:solidFill>
            <a:srgbClr val="161B22"/>
          </a:solidFill>
          <a:ln w="12700">
            <a:solidFill>
              <a:srgbClr val="FF7B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75488" y="3236976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7B72"/>
                </a:solidFill>
                <a:latin typeface="Consolas"/>
              </a:rPr>
              <a:t>rug_pull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48840" y="3255264"/>
            <a:ext cx="1783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949E"/>
                </a:solidFill>
                <a:latin typeface="Segoe UI"/>
              </a:rPr>
              <a:t>Tool description changes mid-session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51960" y="3163824"/>
            <a:ext cx="3657600" cy="548640"/>
          </a:xfrm>
          <a:prstGeom prst="rect">
            <a:avLst/>
          </a:prstGeom>
          <a:solidFill>
            <a:srgbClr val="161B22"/>
          </a:solidFill>
          <a:ln w="12700">
            <a:solidFill>
              <a:srgbClr val="FF7B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361688" y="3236976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7B72"/>
                </a:solidFill>
                <a:latin typeface="Consolas"/>
              </a:rPr>
              <a:t>tool_poison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35040" y="3255264"/>
            <a:ext cx="1783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949E"/>
                </a:solidFill>
                <a:latin typeface="Segoe UI"/>
              </a:rPr>
              <a:t>Hidden Unicode in descriptions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38160" y="3163824"/>
            <a:ext cx="3657600" cy="548640"/>
          </a:xfrm>
          <a:prstGeom prst="rect">
            <a:avLst/>
          </a:prstGeom>
          <a:solidFill>
            <a:srgbClr val="161B22"/>
          </a:solidFill>
          <a:ln w="12700">
            <a:solidFill>
              <a:srgbClr val="E3B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247888" y="3236976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3B341"/>
                </a:solidFill>
                <a:latin typeface="Consolas"/>
              </a:rPr>
              <a:t>rate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21240" y="3255264"/>
            <a:ext cx="1783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949E"/>
                </a:solidFill>
                <a:latin typeface="Segoe UI"/>
              </a:rPr>
              <a:t>30 rapid requests → check 429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3785616"/>
            <a:ext cx="3657600" cy="548640"/>
          </a:xfrm>
          <a:prstGeom prst="rect">
            <a:avLst/>
          </a:prstGeom>
          <a:solidFill>
            <a:srgbClr val="161B22"/>
          </a:solidFill>
          <a:ln w="12700">
            <a:solidFill>
              <a:srgbClr val="E3B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75488" y="3858768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3B341"/>
                </a:solidFill>
                <a:latin typeface="Consolas"/>
              </a:rPr>
              <a:t>jwt_audit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148840" y="3877056"/>
            <a:ext cx="1783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949E"/>
                </a:solidFill>
                <a:latin typeface="Segoe UI"/>
              </a:rPr>
              <a:t>alg=none, no exp, weak secrets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51960" y="3785616"/>
            <a:ext cx="3657600" cy="548640"/>
          </a:xfrm>
          <a:prstGeom prst="rect">
            <a:avLst/>
          </a:prstGeom>
          <a:solidFill>
            <a:srgbClr val="161B22"/>
          </a:solidFill>
          <a:ln w="12700">
            <a:solidFill>
              <a:srgbClr val="FF7B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361688" y="3858768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7B72"/>
                </a:solidFill>
                <a:latin typeface="Consolas"/>
              </a:rPr>
              <a:t>secret_scan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35040" y="3877056"/>
            <a:ext cx="1783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949E"/>
                </a:solidFill>
                <a:latin typeface="Segoe UI"/>
              </a:rPr>
              <a:t>AWS keys, tokens in responses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138160" y="3785616"/>
            <a:ext cx="3657600" cy="548640"/>
          </a:xfrm>
          <a:prstGeom prst="rect">
            <a:avLst/>
          </a:prstGeom>
          <a:solidFill>
            <a:srgbClr val="161B22"/>
          </a:solidFill>
          <a:ln w="12700">
            <a:solidFill>
              <a:srgbClr val="FF7B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247888" y="3858768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7B72"/>
                </a:solidFill>
                <a:latin typeface="Consolas"/>
              </a:rPr>
              <a:t>cmd_injection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921240" y="3877056"/>
            <a:ext cx="1783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949E"/>
                </a:solidFill>
                <a:latin typeface="Segoe UI"/>
              </a:rPr>
              <a:t>Shell chars in string params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4572000"/>
            <a:ext cx="11274552" cy="2011680"/>
          </a:xfrm>
          <a:prstGeom prst="rect">
            <a:avLst/>
          </a:prstGeom>
          <a:solidFill>
            <a:srgbClr val="010710"/>
          </a:solidFill>
          <a:ln w="12700">
            <a:solidFill>
              <a:srgbClr val="39D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94360" y="4681728"/>
            <a:ext cx="11000232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39D353"/>
                </a:solidFill>
                <a:latin typeface="Consolas"/>
              </a:rPr>
              <a:t># Full scan
mcppt scan --url https://target.com/mcp --no-verify --output report.md
# With two tokens (IDOR testing)
mcppt scan --url https://target.com/mcp --token t1 --token2 t2
# Specific checks only
mcppt scan --url https://target.com/mcp --checks auth,ssrf,injection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1005"/>
          </a:solidFill>
          <a:ln>
            <a:solidFill>
              <a:srgbClr val="39D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0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39D353"/>
                </a:solidFill>
                <a:latin typeface="Segoe UI"/>
              </a:rPr>
              <a:t>[ LIVE DEMO 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17520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E6EDF3"/>
                </a:solidFill>
                <a:latin typeface="Segoe UI"/>
              </a:rPr>
              <a:t>Bugtrotter  ×  OWASP Juice Shop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4864"/>
            <a:ext cx="12188952" cy="50292"/>
          </a:xfrm>
          <a:prstGeom prst="rect">
            <a:avLst/>
          </a:prstGeom>
          <a:solidFill>
            <a:srgbClr val="39D353"/>
          </a:solidFill>
          <a:ln>
            <a:solidFill>
              <a:srgbClr val="39D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E6EDF3"/>
                </a:solidFill>
                <a:latin typeface="Segoe UI"/>
              </a:rPr>
              <a:t>Key Takeaways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53312"/>
            <a:ext cx="11274552" cy="36576"/>
          </a:xfrm>
          <a:prstGeom prst="rect">
            <a:avLst/>
          </a:prstGeom>
          <a:solidFill>
            <a:srgbClr val="39D353"/>
          </a:solidFill>
          <a:ln>
            <a:solidFill>
              <a:srgbClr val="39D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11274552" cy="841248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71907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58A6FF"/>
                </a:solidFill>
                <a:latin typeface="Segoe UI"/>
              </a:rPr>
              <a:t>▸  MCP is the new integration standard for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8483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6EDF3"/>
                </a:solidFill>
                <a:latin typeface="Segoe UI"/>
              </a:rPr>
              <a:t>   Every serious AI product is adopting it — understand the protocol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560320"/>
            <a:ext cx="11274552" cy="841248"/>
          </a:xfrm>
          <a:prstGeom prst="rect">
            <a:avLst/>
          </a:prstGeom>
          <a:solidFill>
            <a:srgbClr val="161B22"/>
          </a:solidFill>
          <a:ln w="12700">
            <a:solidFill>
              <a:srgbClr val="39D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263347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9D353"/>
                </a:solidFill>
                <a:latin typeface="Segoe UI"/>
              </a:rPr>
              <a:t>▸  Bugtrotter unifies the entire pentest workflow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99923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6EDF3"/>
                </a:solidFill>
                <a:latin typeface="Segoe UI"/>
              </a:rPr>
              <a:t>   External → Web → Pivot → AD → Report — one framework, one context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474720"/>
            <a:ext cx="11274552" cy="841248"/>
          </a:xfrm>
          <a:prstGeom prst="rect">
            <a:avLst/>
          </a:prstGeom>
          <a:solidFill>
            <a:srgbClr val="161B22"/>
          </a:solidFill>
          <a:ln w="12700">
            <a:solidFill>
              <a:srgbClr val="39D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354787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9D353"/>
                </a:solidFill>
                <a:latin typeface="Segoe UI"/>
              </a:rPr>
              <a:t>▸  30 web skills + 30+ tools = zero setup time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913631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6EDF3"/>
                </a:solidFill>
                <a:latin typeface="Segoe UI"/>
              </a:rPr>
              <a:t>   Install once (Docker), pentest anything immediately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389120"/>
            <a:ext cx="11274552" cy="841248"/>
          </a:xfrm>
          <a:prstGeom prst="rect">
            <a:avLst/>
          </a:prstGeom>
          <a:solidFill>
            <a:srgbClr val="161B22"/>
          </a:solidFill>
          <a:ln w="12700">
            <a:solidFill>
              <a:srgbClr val="E3B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" y="446227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3B341"/>
                </a:solidFill>
                <a:latin typeface="Segoe UI"/>
              </a:rPr>
              <a:t>▸  MCPTROTTER: security testing for MCP servers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828031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6EDF3"/>
                </a:solidFill>
                <a:latin typeface="Segoe UI"/>
              </a:rPr>
              <a:t>   28 automated checks, OWASP MCP Top 10, PyPI-published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303520"/>
            <a:ext cx="11274552" cy="841248"/>
          </a:xfrm>
          <a:prstGeom prst="rect">
            <a:avLst/>
          </a:prstGeom>
          <a:solidFill>
            <a:srgbClr val="161B22"/>
          </a:solidFill>
          <a:ln w="12700">
            <a:solidFill>
              <a:srgbClr val="39D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537667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9D353"/>
                </a:solidFill>
                <a:latin typeface="Segoe UI"/>
              </a:rPr>
              <a:t>▸  Persistent loot survives context resets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742431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6EDF3"/>
                </a:solidFill>
                <a:latin typeface="Segoe UI"/>
              </a:rPr>
              <a:t>   notes.jsonl + resume.py — never lose findings between sessions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4864"/>
            <a:ext cx="12188952" cy="50292"/>
          </a:xfrm>
          <a:prstGeom prst="rect">
            <a:avLst/>
          </a:prstGeom>
          <a:solidFill>
            <a:srgbClr val="39D353"/>
          </a:solidFill>
          <a:ln>
            <a:solidFill>
              <a:srgbClr val="39D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>
                <a:solidFill>
                  <a:srgbClr val="E6EDF3"/>
                </a:solidFill>
                <a:latin typeface="Segoe UI"/>
              </a:rPr>
              <a:t>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dirty="0" err="1">
                <a:solidFill>
                  <a:srgbClr val="39D353"/>
                </a:solidFill>
                <a:latin typeface="Segoe UI"/>
              </a:rPr>
              <a:t>Gurudeep</a:t>
            </a:r>
            <a:r>
              <a:rPr sz="2000" b="0" dirty="0">
                <a:solidFill>
                  <a:srgbClr val="39D353"/>
                </a:solidFill>
                <a:latin typeface="Segoe UI"/>
              </a:rPr>
              <a:t> Mallam  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64208"/>
            <a:ext cx="11274552" cy="27432"/>
          </a:xfrm>
          <a:prstGeom prst="rect">
            <a:avLst/>
          </a:prstGeom>
          <a:solidFill>
            <a:srgbClr val="30363D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57200" y="4434840"/>
            <a:ext cx="11274552" cy="777240"/>
          </a:xfrm>
          <a:prstGeom prst="rect">
            <a:avLst/>
          </a:prstGeom>
          <a:solidFill>
            <a:srgbClr val="102A1A"/>
          </a:solidFill>
          <a:ln w="12700">
            <a:solidFill>
              <a:srgbClr val="39D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48640" y="4498848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9D353"/>
                </a:solidFill>
                <a:latin typeface="Segoe UI"/>
              </a:rPr>
              <a:t>Thank you, NULL Hyderabad! 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919472"/>
            <a:ext cx="1106424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300" b="0" dirty="0">
                <a:solidFill>
                  <a:srgbClr val="E6EDF3"/>
                </a:solidFill>
                <a:latin typeface="Segoe UI"/>
              </a:rPr>
              <a:t>MCPTROTTER is open source</a:t>
            </a:r>
            <a:r>
              <a:rPr sz="1300" b="0" dirty="0">
                <a:solidFill>
                  <a:srgbClr val="E6EDF3"/>
                </a:solidFill>
                <a:latin typeface="Segoe UI"/>
              </a:rPr>
              <a:t>. Star the repo. Break things responsibly.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39D353"/>
          </a:solidFill>
          <a:ln>
            <a:solidFill>
              <a:srgbClr val="39D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4864"/>
            <a:ext cx="12188825" cy="50292"/>
          </a:xfrm>
          <a:prstGeom prst="rect">
            <a:avLst/>
          </a:prstGeom>
          <a:solidFill>
            <a:srgbClr val="58A6FF"/>
          </a:solidFill>
          <a:ln w="190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E6EDF3"/>
                </a:solidFill>
                <a:latin typeface="Calibri"/>
              </a:rPr>
              <a:t>Before MCP — The Evolution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8B949E"/>
                </a:solidFill>
                <a:latin typeface="Calibri"/>
              </a:rPr>
              <a:t>How AI got its hands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53312"/>
            <a:ext cx="11274552" cy="36576"/>
          </a:xfrm>
          <a:prstGeom prst="rect">
            <a:avLst/>
          </a:prstGeom>
          <a:solidFill>
            <a:srgbClr val="58A6FF"/>
          </a:solidFill>
          <a:ln w="190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920240"/>
            <a:ext cx="2221966" cy="3246120"/>
          </a:xfrm>
          <a:prstGeom prst="rect">
            <a:avLst/>
          </a:prstGeom>
          <a:solidFill>
            <a:srgbClr val="161B22"/>
          </a:solidFill>
          <a:ln w="19050">
            <a:solidFill>
              <a:srgbClr val="8B94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29768" y="2029968"/>
            <a:ext cx="777240" cy="274320"/>
          </a:xfrm>
          <a:prstGeom prst="rect">
            <a:avLst/>
          </a:prstGeom>
          <a:solidFill>
            <a:srgbClr val="8B949E"/>
          </a:solidFill>
          <a:ln>
            <a:solidFill>
              <a:srgbClr val="8B94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" y="2029968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D1117"/>
                </a:solidFill>
                <a:latin typeface="Calibri"/>
              </a:rPr>
              <a:t>2022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" y="2395728"/>
            <a:ext cx="200251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6EDF3"/>
                </a:solidFill>
                <a:latin typeface="Calibri"/>
              </a:rPr>
              <a:t>REST APIs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2761488"/>
            <a:ext cx="200251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949E"/>
                </a:solidFill>
                <a:latin typeface="Calibri"/>
              </a:rPr>
              <a:t>No AI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" y="3090672"/>
            <a:ext cx="2002510" cy="9144"/>
          </a:xfrm>
          <a:prstGeom prst="rect">
            <a:avLst/>
          </a:prstGeom>
          <a:solidFill>
            <a:srgbClr val="8B949E"/>
          </a:solidFill>
          <a:ln w="19050">
            <a:solidFill>
              <a:srgbClr val="8B94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" y="3182112"/>
            <a:ext cx="200251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949E"/>
                </a:solidFill>
                <a:latin typeface="Calibri"/>
              </a:rPr>
              <a:t>Tools had APIs. Developers wrote
scripts to call them.
You read the output yourself.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51150" y="3378708"/>
            <a:ext cx="1280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8B949E"/>
                </a:solidFill>
                <a:latin typeface="Calibri"/>
              </a:rPr>
              <a:t>►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51734" y="1920240"/>
            <a:ext cx="2221966" cy="3246120"/>
          </a:xfrm>
          <a:prstGeom prst="rect">
            <a:avLst/>
          </a:prstGeom>
          <a:solidFill>
            <a:srgbClr val="161B22"/>
          </a:solidFill>
          <a:ln w="19050">
            <a:solidFill>
              <a:srgbClr val="8B94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61462" y="2029968"/>
            <a:ext cx="777240" cy="274320"/>
          </a:xfrm>
          <a:prstGeom prst="rect">
            <a:avLst/>
          </a:prstGeom>
          <a:solidFill>
            <a:srgbClr val="8B949E"/>
          </a:solidFill>
          <a:ln>
            <a:solidFill>
              <a:srgbClr val="8B94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61462" y="2029968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D1117"/>
                </a:solidFill>
                <a:latin typeface="Calibri"/>
              </a:rPr>
              <a:t>Early 2023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61462" y="2395728"/>
            <a:ext cx="200251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6EDF3"/>
                </a:solidFill>
                <a:latin typeface="Calibri"/>
              </a:rPr>
              <a:t>Copy-Paste Era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61462" y="2761488"/>
            <a:ext cx="200251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949E"/>
                </a:solidFill>
                <a:latin typeface="Calibri"/>
              </a:rPr>
              <a:t>AI in a browser tab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61462" y="3090672"/>
            <a:ext cx="2002510" cy="9144"/>
          </a:xfrm>
          <a:prstGeom prst="rect">
            <a:avLst/>
          </a:prstGeom>
          <a:solidFill>
            <a:srgbClr val="8B949E"/>
          </a:solidFill>
          <a:ln w="19050">
            <a:solidFill>
              <a:srgbClr val="8B94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61462" y="3182112"/>
            <a:ext cx="200251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949E"/>
                </a:solidFill>
                <a:latin typeface="Calibri"/>
              </a:rPr>
              <a:t>ChatGPT launched. You ran the tool,
copied output, pasted into ChatGPT.
Protocol: your keyboard.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82845" y="3378708"/>
            <a:ext cx="1280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8B949E"/>
                </a:solidFill>
                <a:latin typeface="Calibri"/>
              </a:rPr>
              <a:t>►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983429" y="1920240"/>
            <a:ext cx="2221966" cy="3246120"/>
          </a:xfrm>
          <a:prstGeom prst="rect">
            <a:avLst/>
          </a:prstGeom>
          <a:solidFill>
            <a:srgbClr val="0A121A"/>
          </a:solidFill>
          <a:ln w="19050">
            <a:solidFill>
              <a:srgbClr val="E3B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93157" y="2029968"/>
            <a:ext cx="777240" cy="274320"/>
          </a:xfrm>
          <a:prstGeom prst="rect">
            <a:avLst/>
          </a:prstGeom>
          <a:solidFill>
            <a:srgbClr val="E3B341"/>
          </a:solidFill>
          <a:ln>
            <a:solidFill>
              <a:srgbClr val="E3B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93157" y="2029968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D1117"/>
                </a:solidFill>
                <a:latin typeface="Calibri"/>
              </a:rPr>
              <a:t>Mid 2023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93157" y="2395728"/>
            <a:ext cx="200251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6EDF3"/>
                </a:solidFill>
                <a:latin typeface="Calibri"/>
              </a:rPr>
              <a:t>Function Calling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93157" y="2761488"/>
            <a:ext cx="200251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3B341"/>
                </a:solidFill>
                <a:latin typeface="Calibri"/>
              </a:rPr>
              <a:t>OpenAI only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93157" y="3090672"/>
            <a:ext cx="2002510" cy="9144"/>
          </a:xfrm>
          <a:prstGeom prst="rect">
            <a:avLst/>
          </a:prstGeom>
          <a:solidFill>
            <a:srgbClr val="E3B341"/>
          </a:solidFill>
          <a:ln w="19050">
            <a:solidFill>
              <a:srgbClr val="E3B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93157" y="3182112"/>
            <a:ext cx="200251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949E"/>
                </a:solidFill>
                <a:latin typeface="Calibri"/>
              </a:rPr>
              <a:t>GPT could request a tool call.
But format was proprietary.
Claude had its own. Gemini had its own.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14539" y="3378708"/>
            <a:ext cx="1280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8B949E"/>
                </a:solidFill>
                <a:latin typeface="Calibri"/>
              </a:rPr>
              <a:t>►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123" y="1920240"/>
            <a:ext cx="2221966" cy="3246120"/>
          </a:xfrm>
          <a:prstGeom prst="rect">
            <a:avLst/>
          </a:prstGeom>
          <a:solidFill>
            <a:srgbClr val="0A121A"/>
          </a:solidFill>
          <a:ln w="19050">
            <a:solidFill>
              <a:srgbClr val="E3B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424851" y="2029968"/>
            <a:ext cx="777240" cy="274320"/>
          </a:xfrm>
          <a:prstGeom prst="rect">
            <a:avLst/>
          </a:prstGeom>
          <a:solidFill>
            <a:srgbClr val="E3B341"/>
          </a:solidFill>
          <a:ln>
            <a:solidFill>
              <a:srgbClr val="E3B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24851" y="2029968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D1117"/>
                </a:solidFill>
                <a:latin typeface="Calibri"/>
              </a:rPr>
              <a:t>2023–24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24851" y="2395728"/>
            <a:ext cx="200251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6EDF3"/>
                </a:solidFill>
                <a:latin typeface="Calibri"/>
              </a:rPr>
              <a:t>Frameworks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24851" y="2761488"/>
            <a:ext cx="200251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3B341"/>
                </a:solidFill>
                <a:latin typeface="Calibri"/>
              </a:rPr>
              <a:t>LangChain, LlamaIndex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24851" y="3090672"/>
            <a:ext cx="2002510" cy="9144"/>
          </a:xfrm>
          <a:prstGeom prst="rect">
            <a:avLst/>
          </a:prstGeom>
          <a:solidFill>
            <a:srgbClr val="E3B341"/>
          </a:solidFill>
          <a:ln w="19050">
            <a:solidFill>
              <a:srgbClr val="E3B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24851" y="3182112"/>
            <a:ext cx="200251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949E"/>
                </a:solidFill>
                <a:latin typeface="Calibri"/>
              </a:rPr>
              <a:t>Python libraries tried to unify things.
But a library is not a protocol.
Burp can't speak LangChain.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46234" y="3378708"/>
            <a:ext cx="1280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8B949E"/>
                </a:solidFill>
                <a:latin typeface="Calibri"/>
              </a:rPr>
              <a:t>►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646818" y="1920240"/>
            <a:ext cx="2221966" cy="3246120"/>
          </a:xfrm>
          <a:prstGeom prst="rect">
            <a:avLst/>
          </a:prstGeom>
          <a:solidFill>
            <a:srgbClr val="161B22"/>
          </a:solidFill>
          <a:ln w="19050">
            <a:solidFill>
              <a:srgbClr val="39D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756546" y="2029968"/>
            <a:ext cx="777240" cy="274320"/>
          </a:xfrm>
          <a:prstGeom prst="rect">
            <a:avLst/>
          </a:prstGeom>
          <a:solidFill>
            <a:srgbClr val="39D353"/>
          </a:solidFill>
          <a:ln>
            <a:solidFill>
              <a:srgbClr val="39D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756546" y="2029968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D1117"/>
                </a:solidFill>
                <a:latin typeface="Calibri"/>
              </a:rPr>
              <a:t>Nov 2024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756546" y="2395728"/>
            <a:ext cx="200251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6EDF3"/>
                </a:solidFill>
                <a:latin typeface="Calibri"/>
              </a:rPr>
              <a:t>MCP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56546" y="2761488"/>
            <a:ext cx="200251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9D353"/>
                </a:solidFill>
                <a:latin typeface="Calibri"/>
              </a:rPr>
              <a:t>One open standard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756546" y="3090672"/>
            <a:ext cx="2002510" cy="9144"/>
          </a:xfrm>
          <a:prstGeom prst="rect">
            <a:avLst/>
          </a:prstGeom>
          <a:solidFill>
            <a:srgbClr val="39D353"/>
          </a:solidFill>
          <a:ln w="19050">
            <a:solidFill>
              <a:srgbClr val="39D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756546" y="3182112"/>
            <a:ext cx="200251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949E"/>
                </a:solidFill>
                <a:latin typeface="Calibri"/>
              </a:rPr>
              <a:t>Anthropic published the spec.
Any AI client + any tool server.
JSON-RPC 2.0. Plug and play.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5440680"/>
            <a:ext cx="11274552" cy="1188720"/>
          </a:xfrm>
          <a:prstGeom prst="rect">
            <a:avLst/>
          </a:prstGeom>
          <a:solidFill>
            <a:srgbClr val="0A121A"/>
          </a:solidFill>
          <a:ln w="190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0080" y="5641848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6EDF3"/>
                </a:solidFill>
                <a:latin typeface="Calibri"/>
              </a:rPr>
              <a:t>MCP fixed the chaos: one protocol, one handshake, any AI client talks to any tool. The LLM never changed — only how it connects to the world did.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1741</Words>
  <Application>Microsoft Office PowerPoint</Application>
  <PresentationFormat>Custom</PresentationFormat>
  <Paragraphs>240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Consolas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Saiteja</dc:creator>
  <cp:keywords/>
  <dc:description>generated using python-pptx</dc:description>
  <cp:lastModifiedBy>Saiteja Mallam</cp:lastModifiedBy>
  <cp:revision>3</cp:revision>
  <dcterms:created xsi:type="dcterms:W3CDTF">2013-01-27T09:14:16Z</dcterms:created>
  <dcterms:modified xsi:type="dcterms:W3CDTF">2026-06-26T18:11:28Z</dcterms:modified>
  <cp:category/>
</cp:coreProperties>
</file>